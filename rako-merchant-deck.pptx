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0"/>
            <a:ext cx="10698480" cy="1645920"/>
          </a:xfrm>
          <a:prstGeom prst="rect">
            <a:avLst/>
          </a:prstGeom>
          <a:noFill/>
        </p:spPr>
        <p:txBody>
          <a:bodyPr wrap="square">
            <a:spAutoFit/>
          </a:bodyPr>
          <a:lstStyle/>
          <a:p>
            <a:pPr algn="ctr"/>
            <a:r>
              <a:rPr sz="9600" b="1" i="0">
                <a:solidFill>
                  <a:srgbClr val="FEFFF5"/>
                </a:solidFill>
              </a:rPr>
              <a:t>Rako</a:t>
            </a:r>
          </a:p>
        </p:txBody>
      </p:sp>
      <p:sp>
        <p:nvSpPr>
          <p:cNvPr id="4" name="TextBox 3"/>
          <p:cNvSpPr txBox="1"/>
          <p:nvPr/>
        </p:nvSpPr>
        <p:spPr>
          <a:xfrm>
            <a:off x="1371600" y="3108960"/>
            <a:ext cx="9418320" cy="640080"/>
          </a:xfrm>
          <a:prstGeom prst="rect">
            <a:avLst/>
          </a:prstGeom>
          <a:noFill/>
        </p:spPr>
        <p:txBody>
          <a:bodyPr wrap="square">
            <a:spAutoFit/>
          </a:bodyPr>
          <a:lstStyle/>
          <a:p>
            <a:pPr algn="ctr"/>
            <a:r>
              <a:rPr sz="2800" b="0" i="0">
                <a:solidFill>
                  <a:srgbClr val="FEFFF5"/>
                </a:solidFill>
              </a:rPr>
              <a:t>Agents don't click affiliate links.</a:t>
            </a:r>
          </a:p>
        </p:txBody>
      </p:sp>
      <p:sp>
        <p:nvSpPr>
          <p:cNvPr id="5" name="TextBox 4"/>
          <p:cNvSpPr txBox="1"/>
          <p:nvPr/>
        </p:nvSpPr>
        <p:spPr>
          <a:xfrm>
            <a:off x="1371600" y="3657600"/>
            <a:ext cx="9418320" cy="640080"/>
          </a:xfrm>
          <a:prstGeom prst="rect">
            <a:avLst/>
          </a:prstGeom>
          <a:noFill/>
        </p:spPr>
        <p:txBody>
          <a:bodyPr wrap="square">
            <a:spAutoFit/>
          </a:bodyPr>
          <a:lstStyle/>
          <a:p>
            <a:pPr algn="ctr"/>
            <a:r>
              <a:rPr sz="2200" b="0" i="0">
                <a:solidFill>
                  <a:srgbClr val="EFE6FE"/>
                </a:solidFill>
              </a:rPr>
              <a:t>Here's how your products get discovered and sold in the agent economy.</a:t>
            </a:r>
          </a:p>
        </p:txBody>
      </p:sp>
      <p:sp>
        <p:nvSpPr>
          <p:cNvPr id="6" name="TextBox 5"/>
          <p:cNvSpPr txBox="1"/>
          <p:nvPr/>
        </p:nvSpPr>
        <p:spPr>
          <a:xfrm>
            <a:off x="5029200" y="5943600"/>
            <a:ext cx="2103120" cy="365760"/>
          </a:xfrm>
          <a:prstGeom prst="rect">
            <a:avLst/>
          </a:prstGeom>
          <a:noFill/>
        </p:spPr>
        <p:txBody>
          <a:bodyPr wrap="square">
            <a:spAutoFit/>
          </a:bodyPr>
          <a:lstStyle/>
          <a:p>
            <a:pPr algn="ctr"/>
            <a:r>
              <a:rPr sz="1600" b="0" i="0">
                <a:solidFill>
                  <a:srgbClr val="FEFFF5"/>
                </a:solidFill>
              </a:rPr>
              <a:t>rako.sh</a:t>
            </a:r>
          </a:p>
        </p:txBody>
      </p:sp>
      <p:sp>
        <p:nvSpPr>
          <p:cNvPr id="7" name="Rectangle 6"/>
          <p:cNvSpPr/>
          <p:nvPr/>
        </p:nvSpPr>
        <p:spPr>
          <a:xfrm>
            <a:off x="5029200" y="6309360"/>
            <a:ext cx="2103120" cy="4572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640080"/>
          </a:xfrm>
          <a:prstGeom prst="rect">
            <a:avLst/>
          </a:prstGeom>
          <a:noFill/>
        </p:spPr>
        <p:txBody>
          <a:bodyPr wrap="square">
            <a:spAutoFit/>
          </a:bodyPr>
          <a:lstStyle/>
          <a:p>
            <a:pPr algn="l"/>
            <a:r>
              <a:rPr sz="3200" b="1" i="0">
                <a:solidFill>
                  <a:srgbClr val="5E17EB"/>
                </a:solidFill>
              </a:rPr>
              <a:t>AI agents are shopping. Right now.</a:t>
            </a:r>
          </a:p>
        </p:txBody>
      </p:sp>
      <p:graphicFrame>
        <p:nvGraphicFramePr>
          <p:cNvPr id="5" name="Table 4"/>
          <p:cNvGraphicFramePr>
            <a:graphicFrameLocks noGrp="1"/>
          </p:cNvGraphicFramePr>
          <p:nvPr/>
        </p:nvGraphicFramePr>
        <p:xfrm>
          <a:off x="457200" y="1097280"/>
          <a:ext cx="11247120" cy="3657600"/>
        </p:xfrm>
        <a:graphic>
          <a:graphicData uri="http://schemas.openxmlformats.org/drawingml/2006/table">
            <a:tbl>
              <a:tblPr firstRow="1" bandRow="1">
                <a:tableStyleId>{5C22544A-7EE6-4342-B048-85BDC9FD1C3A}</a:tableStyleId>
              </a:tblPr>
              <a:tblGrid>
                <a:gridCol w="3200400"/>
                <a:gridCol w="8046720"/>
              </a:tblGrid>
              <a:tr h="731520">
                <a:tc>
                  <a:txBody>
                    <a:bodyPr/>
                    <a:lstStyle/>
                    <a:p>
                      <a:r>
                        <a:rPr sz="1300" b="1">
                          <a:solidFill>
                            <a:srgbClr val="FEFFF5"/>
                          </a:solidFill>
                        </a:rPr>
                        <a:t>Metric</a:t>
                      </a:r>
                    </a:p>
                  </a:txBody>
                  <a:tcPr>
                    <a:solidFill>
                      <a:srgbClr val="5E17EB"/>
                    </a:solidFill>
                  </a:tcPr>
                </a:tc>
                <a:tc>
                  <a:txBody>
                    <a:bodyPr/>
                    <a:lstStyle/>
                    <a:p>
                      <a:r>
                        <a:rPr sz="1300" b="1">
                          <a:solidFill>
                            <a:srgbClr val="FEFFF5"/>
                          </a:solidFill>
                        </a:rPr>
                        <a:t>What It Means</a:t>
                      </a:r>
                    </a:p>
                  </a:txBody>
                  <a:tcPr>
                    <a:solidFill>
                      <a:srgbClr val="5E17EB"/>
                    </a:solidFill>
                  </a:tcPr>
                </a:tc>
              </a:tr>
              <a:tr h="731520">
                <a:tc>
                  <a:txBody>
                    <a:bodyPr/>
                    <a:lstStyle/>
                    <a:p>
                      <a:r>
                        <a:rPr sz="1400" b="1">
                          <a:solidFill>
                            <a:srgbClr val="5E17EB"/>
                          </a:solidFill>
                        </a:rPr>
                        <a:t>900M+ users</a:t>
                      </a:r>
                    </a:p>
                  </a:txBody>
                  <a:tcPr>
                    <a:solidFill>
                      <a:srgbClr val="FEFFF5"/>
                    </a:solidFill>
                  </a:tcPr>
                </a:tc>
                <a:tc>
                  <a:txBody>
                    <a:bodyPr/>
                    <a:lstStyle/>
                    <a:p>
                      <a:r>
                        <a:rPr sz="1300">
                          <a:solidFill>
                            <a:srgbClr val="12101A"/>
                          </a:solidFill>
                        </a:rPr>
                        <a:t>on ChatGPT, Claude, Perplexity — asking agents what to buy</a:t>
                      </a:r>
                    </a:p>
                  </a:txBody>
                  <a:tcPr>
                    <a:solidFill>
                      <a:srgbClr val="FEFFF5"/>
                    </a:solidFill>
                  </a:tcPr>
                </a:tc>
              </a:tr>
              <a:tr h="731520">
                <a:tc>
                  <a:txBody>
                    <a:bodyPr/>
                    <a:lstStyle/>
                    <a:p>
                      <a:r>
                        <a:rPr sz="1400" b="1">
                          <a:solidFill>
                            <a:srgbClr val="5E17EB"/>
                          </a:solidFill>
                        </a:rPr>
                        <a:t>527% YoY growth</a:t>
                      </a:r>
                    </a:p>
                  </a:txBody>
                  <a:tcPr>
                    <a:solidFill>
                      <a:srgbClr val="EFE6FE"/>
                    </a:solidFill>
                  </a:tcPr>
                </a:tc>
                <a:tc>
                  <a:txBody>
                    <a:bodyPr/>
                    <a:lstStyle/>
                    <a:p>
                      <a:r>
                        <a:rPr sz="1300">
                          <a:solidFill>
                            <a:srgbClr val="12101A"/>
                          </a:solidFill>
                        </a:rPr>
                        <a:t>in AI-referred e-commerce traffic</a:t>
                      </a:r>
                    </a:p>
                  </a:txBody>
                  <a:tcPr>
                    <a:solidFill>
                      <a:srgbClr val="EFE6FE"/>
                    </a:solidFill>
                  </a:tcPr>
                </a:tc>
              </a:tr>
              <a:tr h="731520">
                <a:tc>
                  <a:txBody>
                    <a:bodyPr/>
                    <a:lstStyle/>
                    <a:p>
                      <a:r>
                        <a:rPr sz="1400" b="1">
                          <a:solidFill>
                            <a:srgbClr val="5E17EB"/>
                          </a:solidFill>
                        </a:rPr>
                        <a:t>4.4× conversion rate</a:t>
                      </a:r>
                    </a:p>
                  </a:txBody>
                  <a:tcPr>
                    <a:solidFill>
                      <a:srgbClr val="FEFFF5"/>
                    </a:solidFill>
                  </a:tcPr>
                </a:tc>
                <a:tc>
                  <a:txBody>
                    <a:bodyPr/>
                    <a:lstStyle/>
                    <a:p>
                      <a:r>
                        <a:rPr sz="1300">
                          <a:solidFill>
                            <a:srgbClr val="12101A"/>
                          </a:solidFill>
                        </a:rPr>
                        <a:t>vs organic search — agents drive higher-intent buyers</a:t>
                      </a:r>
                    </a:p>
                  </a:txBody>
                  <a:tcPr>
                    <a:solidFill>
                      <a:srgbClr val="FEFFF5"/>
                    </a:solidFill>
                  </a:tcPr>
                </a:tc>
              </a:tr>
              <a:tr h="731520">
                <a:tc>
                  <a:txBody>
                    <a:bodyPr/>
                    <a:lstStyle/>
                    <a:p>
                      <a:r>
                        <a:rPr sz="1400" b="1">
                          <a:solidFill>
                            <a:srgbClr val="5E17EB"/>
                          </a:solidFill>
                        </a:rPr>
                        <a:t>$1 trillion</a:t>
                      </a:r>
                    </a:p>
                  </a:txBody>
                  <a:tcPr>
                    <a:solidFill>
                      <a:srgbClr val="EFE6FE"/>
                    </a:solidFill>
                  </a:tcPr>
                </a:tc>
                <a:tc>
                  <a:txBody>
                    <a:bodyPr/>
                    <a:lstStyle/>
                    <a:p>
                      <a:r>
                        <a:rPr sz="1300">
                          <a:solidFill>
                            <a:srgbClr val="12101A"/>
                          </a:solidFill>
                        </a:rPr>
                        <a:t>McKinsey's estimate for agent commerce by 2030</a:t>
                      </a:r>
                    </a:p>
                  </a:txBody>
                  <a:tcPr>
                    <a:solidFill>
                      <a:srgbClr val="EFE6FE"/>
                    </a:solidFill>
                  </a:tcPr>
                </a:tc>
              </a:tr>
            </a:tbl>
          </a:graphicData>
        </a:graphic>
      </p:graphicFrame>
      <p:sp>
        <p:nvSpPr>
          <p:cNvPr id="6" name="TextBox 5"/>
          <p:cNvSpPr txBox="1"/>
          <p:nvPr/>
        </p:nvSpPr>
        <p:spPr>
          <a:xfrm>
            <a:off x="457200" y="4937760"/>
            <a:ext cx="11247120" cy="548640"/>
          </a:xfrm>
          <a:prstGeom prst="rect">
            <a:avLst/>
          </a:prstGeom>
          <a:noFill/>
        </p:spPr>
        <p:txBody>
          <a:bodyPr wrap="square">
            <a:spAutoFit/>
          </a:bodyPr>
          <a:lstStyle/>
          <a:p>
            <a:pPr algn="l"/>
            <a:r>
              <a:rPr sz="1500" b="0" i="1">
                <a:solidFill>
                  <a:srgbClr val="3A3548"/>
                </a:solidFill>
              </a:rPr>
              <a:t>Shopify reports 15× growth in agent-originated traffic. The channel exists — the question is whether your products are visible in it.</a:t>
            </a:r>
          </a:p>
        </p:txBody>
      </p:sp>
      <p:sp>
        <p:nvSpPr>
          <p:cNvPr id="7" name="TextBox 6"/>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8" name="TextBox 7"/>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640080"/>
          </a:xfrm>
          <a:prstGeom prst="rect">
            <a:avLst/>
          </a:prstGeom>
          <a:noFill/>
        </p:spPr>
        <p:txBody>
          <a:bodyPr wrap="square">
            <a:spAutoFit/>
          </a:bodyPr>
          <a:lstStyle/>
          <a:p>
            <a:pPr algn="l"/>
            <a:r>
              <a:rPr sz="3200" b="1" i="0">
                <a:solidFill>
                  <a:srgbClr val="5E17EB"/>
                </a:solidFill>
              </a:rPr>
              <a:t>The old attribution stack is broken.</a:t>
            </a:r>
          </a:p>
        </p:txBody>
      </p:sp>
      <p:graphicFrame>
        <p:nvGraphicFramePr>
          <p:cNvPr id="5" name="Table 4"/>
          <p:cNvGraphicFramePr>
            <a:graphicFrameLocks noGrp="1"/>
          </p:cNvGraphicFramePr>
          <p:nvPr/>
        </p:nvGraphicFramePr>
        <p:xfrm>
          <a:off x="457200" y="1097280"/>
          <a:ext cx="11247120" cy="2926080"/>
        </p:xfrm>
        <a:graphic>
          <a:graphicData uri="http://schemas.openxmlformats.org/drawingml/2006/table">
            <a:tbl>
              <a:tblPr firstRow="1" bandRow="1">
                <a:tableStyleId>{5C22544A-7EE6-4342-B048-85BDC9FD1C3A}</a:tableStyleId>
              </a:tblPr>
              <a:tblGrid>
                <a:gridCol w="3657600"/>
                <a:gridCol w="7589520"/>
              </a:tblGrid>
              <a:tr h="585216">
                <a:tc>
                  <a:txBody>
                    <a:bodyPr/>
                    <a:lstStyle/>
                    <a:p>
                      <a:r>
                        <a:rPr sz="1300" b="1">
                          <a:solidFill>
                            <a:srgbClr val="FEFFF5"/>
                          </a:solidFill>
                        </a:rPr>
                        <a:t>Old Primitive</a:t>
                      </a:r>
                    </a:p>
                  </a:txBody>
                  <a:tcPr>
                    <a:solidFill>
                      <a:srgbClr val="5E17EB"/>
                    </a:solidFill>
                  </a:tcPr>
                </a:tc>
                <a:tc>
                  <a:txBody>
                    <a:bodyPr/>
                    <a:lstStyle/>
                    <a:p>
                      <a:r>
                        <a:rPr sz="1300" b="1">
                          <a:solidFill>
                            <a:srgbClr val="FEFFF5"/>
                          </a:solidFill>
                        </a:rPr>
                        <a:t>Why It Breaks With Agents</a:t>
                      </a:r>
                    </a:p>
                  </a:txBody>
                  <a:tcPr>
                    <a:solidFill>
                      <a:srgbClr val="5E17EB"/>
                    </a:solidFill>
                  </a:tcPr>
                </a:tc>
              </a:tr>
              <a:tr h="585216">
                <a:tc>
                  <a:txBody>
                    <a:bodyPr/>
                    <a:lstStyle/>
                    <a:p>
                      <a:r>
                        <a:rPr sz="1300" b="1">
                          <a:solidFill>
                            <a:srgbClr val="12101A"/>
                          </a:solidFill>
                        </a:rPr>
                        <a:t>Tracked links</a:t>
                      </a:r>
                    </a:p>
                  </a:txBody>
                  <a:tcPr>
                    <a:solidFill>
                      <a:srgbClr val="FEFFF5"/>
                    </a:solidFill>
                  </a:tcPr>
                </a:tc>
                <a:tc>
                  <a:txBody>
                    <a:bodyPr/>
                    <a:lstStyle/>
                    <a:p>
                      <a:r>
                        <a:rPr sz="1300">
                          <a:solidFill>
                            <a:srgbClr val="12101A"/>
                          </a:solidFill>
                        </a:rPr>
                        <a:t>Agents don't click links</a:t>
                      </a:r>
                    </a:p>
                  </a:txBody>
                  <a:tcPr>
                    <a:solidFill>
                      <a:srgbClr val="FEFFF5"/>
                    </a:solidFill>
                  </a:tcPr>
                </a:tc>
              </a:tr>
              <a:tr h="585216">
                <a:tc>
                  <a:txBody>
                    <a:bodyPr/>
                    <a:lstStyle/>
                    <a:p>
                      <a:r>
                        <a:rPr sz="1300" b="1">
                          <a:solidFill>
                            <a:srgbClr val="12101A"/>
                          </a:solidFill>
                        </a:rPr>
                        <a:t>Browser cookies</a:t>
                      </a:r>
                    </a:p>
                  </a:txBody>
                  <a:tcPr>
                    <a:solidFill>
                      <a:srgbClr val="EFE6FE"/>
                    </a:solidFill>
                  </a:tcPr>
                </a:tc>
                <a:tc>
                  <a:txBody>
                    <a:bodyPr/>
                    <a:lstStyle/>
                    <a:p>
                      <a:r>
                        <a:rPr sz="1300">
                          <a:solidFill>
                            <a:srgbClr val="12101A"/>
                          </a:solidFill>
                        </a:rPr>
                        <a:t>Agents don't carry cookies</a:t>
                      </a:r>
                    </a:p>
                  </a:txBody>
                  <a:tcPr>
                    <a:solidFill>
                      <a:srgbClr val="EFE6FE"/>
                    </a:solidFill>
                  </a:tcPr>
                </a:tc>
              </a:tr>
              <a:tr h="585216">
                <a:tc>
                  <a:txBody>
                    <a:bodyPr/>
                    <a:lstStyle/>
                    <a:p>
                      <a:r>
                        <a:rPr sz="1300" b="1">
                          <a:solidFill>
                            <a:srgbClr val="12101A"/>
                          </a:solidFill>
                        </a:rPr>
                        <a:t>Last-click attribution</a:t>
                      </a:r>
                    </a:p>
                  </a:txBody>
                  <a:tcPr>
                    <a:solidFill>
                      <a:srgbClr val="FEFFF5"/>
                    </a:solidFill>
                  </a:tcPr>
                </a:tc>
                <a:tc>
                  <a:txBody>
                    <a:bodyPr/>
                    <a:lstStyle/>
                    <a:p>
                      <a:r>
                        <a:rPr sz="1300">
                          <a:solidFill>
                            <a:srgbClr val="12101A"/>
                          </a:solidFill>
                        </a:rPr>
                        <a:t>There is no click</a:t>
                      </a:r>
                    </a:p>
                  </a:txBody>
                  <a:tcPr>
                    <a:solidFill>
                      <a:srgbClr val="FEFFF5"/>
                    </a:solidFill>
                  </a:tcPr>
                </a:tc>
              </a:tr>
              <a:tr h="585216">
                <a:tc>
                  <a:txBody>
                    <a:bodyPr/>
                    <a:lstStyle/>
                    <a:p>
                      <a:r>
                        <a:rPr sz="1300" b="1">
                          <a:solidFill>
                            <a:srgbClr val="12101A"/>
                          </a:solidFill>
                        </a:rPr>
                        <a:t>Tracking pixels</a:t>
                      </a:r>
                    </a:p>
                  </a:txBody>
                  <a:tcPr>
                    <a:solidFill>
                      <a:srgbClr val="EFE6FE"/>
                    </a:solidFill>
                  </a:tcPr>
                </a:tc>
                <a:tc>
                  <a:txBody>
                    <a:bodyPr/>
                    <a:lstStyle/>
                    <a:p>
                      <a:r>
                        <a:rPr sz="1300">
                          <a:solidFill>
                            <a:srgbClr val="12101A"/>
                          </a:solidFill>
                        </a:rPr>
                        <a:t>Agents don't render pixels</a:t>
                      </a:r>
                    </a:p>
                  </a:txBody>
                  <a:tcPr>
                    <a:solidFill>
                      <a:srgbClr val="EFE6FE"/>
                    </a:solidFill>
                  </a:tcPr>
                </a:tc>
              </a:tr>
            </a:tbl>
          </a:graphicData>
        </a:graphic>
      </p:graphicFrame>
      <p:sp>
        <p:nvSpPr>
          <p:cNvPr id="6" name="TextBox 5"/>
          <p:cNvSpPr txBox="1"/>
          <p:nvPr/>
        </p:nvSpPr>
        <p:spPr>
          <a:xfrm>
            <a:off x="457200" y="4206240"/>
            <a:ext cx="11247120" cy="365760"/>
          </a:xfrm>
          <a:prstGeom prst="rect">
            <a:avLst/>
          </a:prstGeom>
          <a:noFill/>
        </p:spPr>
        <p:txBody>
          <a:bodyPr wrap="square">
            <a:spAutoFit/>
          </a:bodyPr>
          <a:lstStyle/>
          <a:p>
            <a:pPr algn="l"/>
            <a:r>
              <a:rPr sz="1500" b="0" i="1">
                <a:solidFill>
                  <a:srgbClr val="3A3548"/>
                </a:solidFill>
              </a:rPr>
              <a:t>Awin, Impact, CJ, Partnerize — every affiliate network assumes a human in a browser.</a:t>
            </a:r>
          </a:p>
        </p:txBody>
      </p:sp>
      <p:sp>
        <p:nvSpPr>
          <p:cNvPr id="7" name="Rectangle 6"/>
          <p:cNvSpPr/>
          <p:nvPr/>
        </p:nvSpPr>
        <p:spPr>
          <a:xfrm>
            <a:off x="457200" y="4663440"/>
            <a:ext cx="11247120" cy="1005840"/>
          </a:xfrm>
          <a:prstGeom prst="rect">
            <a:avLst/>
          </a:prstGeom>
          <a:solidFill>
            <a:srgbClr val="4B0F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4754880"/>
            <a:ext cx="10881360" cy="822960"/>
          </a:xfrm>
          <a:prstGeom prst="rect">
            <a:avLst/>
          </a:prstGeom>
          <a:noFill/>
        </p:spPr>
        <p:txBody>
          <a:bodyPr wrap="square">
            <a:spAutoFit/>
          </a:bodyPr>
          <a:lstStyle/>
          <a:p>
            <a:pPr algn="l"/>
            <a:r>
              <a:rPr sz="1400" b="1" i="0">
                <a:solidFill>
                  <a:srgbClr val="FEFFF5"/>
                </a:solidFill>
              </a:rPr>
              <a:t>When an AI agent recommends your product and a user buys, you have no idea the agent drove the sale. You can't pay commission. So agents have no reason to recommend you.</a:t>
            </a:r>
          </a:p>
        </p:txBody>
      </p:sp>
      <p:sp>
        <p:nvSpPr>
          <p:cNvPr id="9" name="TextBox 8"/>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10" name="TextBox 9"/>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731520"/>
          </a:xfrm>
          <a:prstGeom prst="rect">
            <a:avLst/>
          </a:prstGeom>
          <a:noFill/>
        </p:spPr>
        <p:txBody>
          <a:bodyPr wrap="square">
            <a:spAutoFit/>
          </a:bodyPr>
          <a:lstStyle/>
          <a:p>
            <a:pPr algn="l"/>
            <a:r>
              <a:rPr sz="3000" b="1" i="0">
                <a:solidFill>
                  <a:srgbClr val="5E17EB"/>
                </a:solidFill>
              </a:rPr>
              <a:t>Everyone built the checkout. Nobody built the commission rail.</a:t>
            </a:r>
          </a:p>
        </p:txBody>
      </p:sp>
      <p:graphicFrame>
        <p:nvGraphicFramePr>
          <p:cNvPr id="5" name="Table 4"/>
          <p:cNvGraphicFramePr>
            <a:graphicFrameLocks noGrp="1"/>
          </p:cNvGraphicFramePr>
          <p:nvPr/>
        </p:nvGraphicFramePr>
        <p:xfrm>
          <a:off x="457200" y="1188720"/>
          <a:ext cx="11247120" cy="2560320"/>
        </p:xfrm>
        <a:graphic>
          <a:graphicData uri="http://schemas.openxmlformats.org/drawingml/2006/table">
            <a:tbl>
              <a:tblPr firstRow="1" bandRow="1">
                <a:tableStyleId>{5C22544A-7EE6-4342-B048-85BDC9FD1C3A}</a:tableStyleId>
              </a:tblPr>
              <a:tblGrid>
                <a:gridCol w="4114800"/>
                <a:gridCol w="4846320"/>
                <a:gridCol w="2286000"/>
              </a:tblGrid>
              <a:tr h="640080">
                <a:tc>
                  <a:txBody>
                    <a:bodyPr/>
                    <a:lstStyle/>
                    <a:p>
                      <a:r>
                        <a:rPr sz="1300" b="1">
                          <a:solidFill>
                            <a:srgbClr val="FEFFF5"/>
                          </a:solidFill>
                        </a:rPr>
                        <a:t>Layer</a:t>
                      </a:r>
                    </a:p>
                  </a:txBody>
                  <a:tcPr>
                    <a:solidFill>
                      <a:srgbClr val="5E17EB"/>
                    </a:solidFill>
                  </a:tcPr>
                </a:tc>
                <a:tc>
                  <a:txBody>
                    <a:bodyPr/>
                    <a:lstStyle/>
                    <a:p>
                      <a:r>
                        <a:rPr sz="1300" b="1">
                          <a:solidFill>
                            <a:srgbClr val="FEFFF5"/>
                          </a:solidFill>
                        </a:rPr>
                        <a:t>Who's Building It</a:t>
                      </a:r>
                    </a:p>
                  </a:txBody>
                  <a:tcPr>
                    <a:solidFill>
                      <a:srgbClr val="5E17EB"/>
                    </a:solidFill>
                  </a:tcPr>
                </a:tc>
                <a:tc>
                  <a:txBody>
                    <a:bodyPr/>
                    <a:lstStyle/>
                    <a:p>
                      <a:r>
                        <a:rPr sz="1300" b="1">
                          <a:solidFill>
                            <a:srgbClr val="FEFFF5"/>
                          </a:solidFill>
                        </a:rPr>
                        <a:t>Status</a:t>
                      </a:r>
                    </a:p>
                  </a:txBody>
                  <a:tcPr>
                    <a:solidFill>
                      <a:srgbClr val="5E17EB"/>
                    </a:solidFill>
                  </a:tcPr>
                </a:tc>
              </a:tr>
              <a:tr h="640080">
                <a:tc>
                  <a:txBody>
                    <a:bodyPr/>
                    <a:lstStyle/>
                    <a:p>
                      <a:r>
                        <a:rPr sz="1300" b="0">
                          <a:solidFill>
                            <a:srgbClr val="12101A"/>
                          </a:solidFill>
                        </a:rPr>
                        <a:t>Agent discovery</a:t>
                      </a:r>
                    </a:p>
                  </a:txBody>
                  <a:tcPr>
                    <a:solidFill>
                      <a:srgbClr val="FEFFF5"/>
                    </a:solidFill>
                  </a:tcPr>
                </a:tc>
                <a:tc>
                  <a:txBody>
                    <a:bodyPr/>
                    <a:lstStyle/>
                    <a:p>
                      <a:r>
                        <a:rPr sz="1300" b="0">
                          <a:solidFill>
                            <a:srgbClr val="12101A"/>
                          </a:solidFill>
                        </a:rPr>
                        <a:t>MCP (Anthropic), ACP (OpenAI)</a:t>
                      </a:r>
                    </a:p>
                  </a:txBody>
                  <a:tcPr>
                    <a:solidFill>
                      <a:srgbClr val="FEFFF5"/>
                    </a:solidFill>
                  </a:tcPr>
                </a:tc>
                <a:tc>
                  <a:txBody>
                    <a:bodyPr/>
                    <a:lstStyle/>
                    <a:p>
                      <a:r>
                        <a:rPr sz="1300" b="0">
                          <a:solidFill>
                            <a:srgbClr val="12101A"/>
                          </a:solidFill>
                        </a:rPr>
                        <a:t>✅ Solved</a:t>
                      </a:r>
                    </a:p>
                  </a:txBody>
                  <a:tcPr>
                    <a:solidFill>
                      <a:srgbClr val="FEFFF5"/>
                    </a:solidFill>
                  </a:tcPr>
                </a:tc>
              </a:tr>
              <a:tr h="640080">
                <a:tc>
                  <a:txBody>
                    <a:bodyPr/>
                    <a:lstStyle/>
                    <a:p>
                      <a:r>
                        <a:rPr sz="1300" b="0">
                          <a:solidFill>
                            <a:srgbClr val="12101A"/>
                          </a:solidFill>
                        </a:rPr>
                        <a:t>Agent checkout</a:t>
                      </a:r>
                    </a:p>
                  </a:txBody>
                  <a:tcPr>
                    <a:solidFill>
                      <a:srgbClr val="EFE6FE"/>
                    </a:solidFill>
                  </a:tcPr>
                </a:tc>
                <a:tc>
                  <a:txBody>
                    <a:bodyPr/>
                    <a:lstStyle/>
                    <a:p>
                      <a:r>
                        <a:rPr sz="1300" b="0">
                          <a:solidFill>
                            <a:srgbClr val="12101A"/>
                          </a:solidFill>
                        </a:rPr>
                        <a:t>Stripe Agent Toolkit, Visa/MC</a:t>
                      </a:r>
                    </a:p>
                  </a:txBody>
                  <a:tcPr>
                    <a:solidFill>
                      <a:srgbClr val="EFE6FE"/>
                    </a:solidFill>
                  </a:tcPr>
                </a:tc>
                <a:tc>
                  <a:txBody>
                    <a:bodyPr/>
                    <a:lstStyle/>
                    <a:p>
                      <a:r>
                        <a:rPr sz="1300" b="0">
                          <a:solidFill>
                            <a:srgbClr val="12101A"/>
                          </a:solidFill>
                        </a:rPr>
                        <a:t>✅ Solved</a:t>
                      </a:r>
                    </a:p>
                  </a:txBody>
                  <a:tcPr>
                    <a:solidFill>
                      <a:srgbClr val="EFE6FE"/>
                    </a:solidFill>
                  </a:tcPr>
                </a:tc>
              </a:tr>
              <a:tr h="640080">
                <a:tc>
                  <a:txBody>
                    <a:bodyPr/>
                    <a:lstStyle/>
                    <a:p>
                      <a:r>
                        <a:rPr sz="1300" b="1">
                          <a:solidFill>
                            <a:srgbClr val="FEFFF5"/>
                          </a:solidFill>
                        </a:rPr>
                        <a:t>Agent attribution &amp; commission</a:t>
                      </a:r>
                    </a:p>
                  </a:txBody>
                  <a:tcPr>
                    <a:solidFill>
                      <a:srgbClr val="4B0FC9"/>
                    </a:solidFill>
                  </a:tcPr>
                </a:tc>
                <a:tc>
                  <a:txBody>
                    <a:bodyPr/>
                    <a:lstStyle/>
                    <a:p>
                      <a:r>
                        <a:rPr sz="1300" b="1">
                          <a:solidFill>
                            <a:srgbClr val="FEFFF5"/>
                          </a:solidFill>
                        </a:rPr>
                        <a:t>Rako</a:t>
                      </a:r>
                    </a:p>
                  </a:txBody>
                  <a:tcPr>
                    <a:solidFill>
                      <a:srgbClr val="4B0FC9"/>
                    </a:solidFill>
                  </a:tcPr>
                </a:tc>
                <a:tc>
                  <a:txBody>
                    <a:bodyPr/>
                    <a:lstStyle/>
                    <a:p>
                      <a:r>
                        <a:rPr sz="1300" b="1">
                          <a:solidFill>
                            <a:srgbClr val="FEFFF5"/>
                          </a:solidFill>
                        </a:rPr>
                        <a:t>← Nobody else</a:t>
                      </a:r>
                    </a:p>
                  </a:txBody>
                  <a:tcPr>
                    <a:solidFill>
                      <a:srgbClr val="4B0FC9"/>
                    </a:solidFill>
                  </a:tcPr>
                </a:tc>
              </a:tr>
            </a:tbl>
          </a:graphicData>
        </a:graphic>
      </p:graphicFrame>
      <p:sp>
        <p:nvSpPr>
          <p:cNvPr id="6" name="TextBox 5"/>
          <p:cNvSpPr txBox="1"/>
          <p:nvPr/>
        </p:nvSpPr>
        <p:spPr>
          <a:xfrm>
            <a:off x="457200" y="4023360"/>
            <a:ext cx="11247120" cy="1280160"/>
          </a:xfrm>
          <a:prstGeom prst="rect">
            <a:avLst/>
          </a:prstGeom>
          <a:noFill/>
        </p:spPr>
        <p:txBody>
          <a:bodyPr wrap="square">
            <a:spAutoFit/>
          </a:bodyPr>
          <a:lstStyle/>
          <a:p>
            <a:pPr algn="l"/>
            <a:r>
              <a:rPr sz="1600" b="0" i="1">
                <a:solidFill>
                  <a:srgbClr val="3A3548"/>
                </a:solidFill>
              </a:rPr>
              <a:t>"OpenAI built Instant Checkout. Google shipped agent SDKs. Stripe has Agent Toolkit. The payment layer is solved.
But nobody built the layer that answers: who recommended this product, and how do they get paid?"</a:t>
            </a:r>
          </a:p>
        </p:txBody>
      </p:sp>
      <p:sp>
        <p:nvSpPr>
          <p:cNvPr id="7" name="TextBox 6"/>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8" name="TextBox 7"/>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640080"/>
          </a:xfrm>
          <a:prstGeom prst="rect">
            <a:avLst/>
          </a:prstGeom>
          <a:noFill/>
        </p:spPr>
        <p:txBody>
          <a:bodyPr wrap="square">
            <a:spAutoFit/>
          </a:bodyPr>
          <a:lstStyle/>
          <a:p>
            <a:pPr algn="l"/>
            <a:r>
              <a:rPr sz="3200" b="1" i="0">
                <a:solidFill>
                  <a:srgbClr val="5E17EB"/>
                </a:solidFill>
              </a:rPr>
              <a:t>Simple. Same economics you already know.</a:t>
            </a:r>
          </a:p>
        </p:txBody>
      </p:sp>
      <p:sp>
        <p:nvSpPr>
          <p:cNvPr id="5" name="Rectangle 4"/>
          <p:cNvSpPr/>
          <p:nvPr/>
        </p:nvSpPr>
        <p:spPr>
          <a:xfrm>
            <a:off x="457200" y="1005840"/>
            <a:ext cx="11247120" cy="54864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11064240" cy="457200"/>
          </a:xfrm>
          <a:prstGeom prst="rect">
            <a:avLst/>
          </a:prstGeom>
          <a:noFill/>
        </p:spPr>
        <p:txBody>
          <a:bodyPr wrap="square">
            <a:spAutoFit/>
          </a:bodyPr>
          <a:lstStyle/>
          <a:p>
            <a:pPr algn="ctr"/>
            <a:r>
              <a:rPr sz="1600" b="1" i="0">
                <a:solidFill>
                  <a:srgbClr val="5E17EB"/>
                </a:solidFill>
              </a:rPr>
              <a:t>You share your offers  →  Agents discover them  →  Users buy  →  You pay commission on verified sales</a:t>
            </a:r>
          </a:p>
        </p:txBody>
      </p:sp>
      <p:graphicFrame>
        <p:nvGraphicFramePr>
          <p:cNvPr id="7" name="Table 6"/>
          <p:cNvGraphicFramePr>
            <a:graphicFrameLocks noGrp="1"/>
          </p:cNvGraphicFramePr>
          <p:nvPr/>
        </p:nvGraphicFramePr>
        <p:xfrm>
          <a:off x="457200" y="1737360"/>
          <a:ext cx="11247120" cy="3474720"/>
        </p:xfrm>
        <a:graphic>
          <a:graphicData uri="http://schemas.openxmlformats.org/drawingml/2006/table">
            <a:tbl>
              <a:tblPr firstRow="1" bandRow="1">
                <a:tableStyleId>{5C22544A-7EE6-4342-B048-85BDC9FD1C3A}</a:tableStyleId>
              </a:tblPr>
              <a:tblGrid>
                <a:gridCol w="2011680"/>
                <a:gridCol w="5760720"/>
                <a:gridCol w="3474720"/>
              </a:tblGrid>
              <a:tr h="579120">
                <a:tc>
                  <a:txBody>
                    <a:bodyPr/>
                    <a:lstStyle/>
                    <a:p>
                      <a:r>
                        <a:rPr sz="1200" b="1">
                          <a:solidFill>
                            <a:srgbClr val="FEFFF5"/>
                          </a:solidFill>
                        </a:rPr>
                        <a:t>Step</a:t>
                      </a:r>
                    </a:p>
                  </a:txBody>
                  <a:tcPr>
                    <a:solidFill>
                      <a:srgbClr val="5E17EB"/>
                    </a:solidFill>
                  </a:tcPr>
                </a:tc>
                <a:tc>
                  <a:txBody>
                    <a:bodyPr/>
                    <a:lstStyle/>
                    <a:p>
                      <a:r>
                        <a:rPr sz="1200" b="1">
                          <a:solidFill>
                            <a:srgbClr val="FEFFF5"/>
                          </a:solidFill>
                        </a:rPr>
                        <a:t>What Happens</a:t>
                      </a:r>
                    </a:p>
                  </a:txBody>
                  <a:tcPr>
                    <a:solidFill>
                      <a:srgbClr val="5E17EB"/>
                    </a:solidFill>
                  </a:tcPr>
                </a:tc>
                <a:tc>
                  <a:txBody>
                    <a:bodyPr/>
                    <a:lstStyle/>
                    <a:p>
                      <a:r>
                        <a:rPr sz="1200" b="1">
                          <a:solidFill>
                            <a:srgbClr val="FEFFF5"/>
                          </a:solidFill>
                        </a:rPr>
                        <a:t>Who Does It</a:t>
                      </a:r>
                    </a:p>
                  </a:txBody>
                  <a:tcPr>
                    <a:solidFill>
                      <a:srgbClr val="5E17EB"/>
                    </a:solidFill>
                  </a:tcPr>
                </a:tc>
              </a:tr>
              <a:tr h="579120">
                <a:tc>
                  <a:txBody>
                    <a:bodyPr/>
                    <a:lstStyle/>
                    <a:p>
                      <a:r>
                        <a:rPr sz="1200" b="1">
                          <a:solidFill>
                            <a:srgbClr val="5E17EB"/>
                          </a:solidFill>
                        </a:rPr>
                        <a:t>1. Onboard</a:t>
                      </a:r>
                    </a:p>
                  </a:txBody>
                  <a:tcPr>
                    <a:solidFill>
                      <a:srgbClr val="FEFFF5"/>
                    </a:solidFill>
                  </a:tcPr>
                </a:tc>
                <a:tc>
                  <a:txBody>
                    <a:bodyPr/>
                    <a:lstStyle/>
                    <a:p>
                      <a:r>
                        <a:rPr sz="1200" b="0">
                          <a:solidFill>
                            <a:srgbClr val="12101A"/>
                          </a:solidFill>
                        </a:rPr>
                        <a:t>Your offers go live on the agent network</a:t>
                      </a:r>
                    </a:p>
                  </a:txBody>
                  <a:tcPr>
                    <a:solidFill>
                      <a:srgbClr val="FEFFF5"/>
                    </a:solidFill>
                  </a:tcPr>
                </a:tc>
                <a:tc>
                  <a:txBody>
                    <a:bodyPr/>
                    <a:lstStyle/>
                    <a:p>
                      <a:r>
                        <a:rPr sz="1200" b="0">
                          <a:solidFill>
                            <a:srgbClr val="12101A"/>
                          </a:solidFill>
                        </a:rPr>
                        <a:t>Rako (we do the setup)</a:t>
                      </a:r>
                    </a:p>
                  </a:txBody>
                  <a:tcPr>
                    <a:solidFill>
                      <a:srgbClr val="FEFFF5"/>
                    </a:solidFill>
                  </a:tcPr>
                </a:tc>
              </a:tr>
              <a:tr h="579120">
                <a:tc>
                  <a:txBody>
                    <a:bodyPr/>
                    <a:lstStyle/>
                    <a:p>
                      <a:r>
                        <a:rPr sz="1200" b="1">
                          <a:solidFill>
                            <a:srgbClr val="5E17EB"/>
                          </a:solidFill>
                        </a:rPr>
                        <a:t>2. Discover</a:t>
                      </a:r>
                    </a:p>
                  </a:txBody>
                  <a:tcPr>
                    <a:solidFill>
                      <a:srgbClr val="EFE6FE"/>
                    </a:solidFill>
                  </a:tcPr>
                </a:tc>
                <a:tc>
                  <a:txBody>
                    <a:bodyPr/>
                    <a:lstStyle/>
                    <a:p>
                      <a:r>
                        <a:rPr sz="1200" b="0">
                          <a:solidFill>
                            <a:srgbClr val="12101A"/>
                          </a:solidFill>
                        </a:rPr>
                        <a:t>AI agents find and recommend your products</a:t>
                      </a:r>
                    </a:p>
                  </a:txBody>
                  <a:tcPr>
                    <a:solidFill>
                      <a:srgbClr val="EFE6FE"/>
                    </a:solidFill>
                  </a:tcPr>
                </a:tc>
                <a:tc>
                  <a:txBody>
                    <a:bodyPr/>
                    <a:lstStyle/>
                    <a:p>
                      <a:r>
                        <a:rPr sz="1200" b="0">
                          <a:solidFill>
                            <a:srgbClr val="12101A"/>
                          </a:solidFill>
                        </a:rPr>
                        <a:t>Agents across Claude, ChatGPT, custom agents</a:t>
                      </a:r>
                    </a:p>
                  </a:txBody>
                  <a:tcPr>
                    <a:solidFill>
                      <a:srgbClr val="EFE6FE"/>
                    </a:solidFill>
                  </a:tcPr>
                </a:tc>
              </a:tr>
              <a:tr h="579120">
                <a:tc>
                  <a:txBody>
                    <a:bodyPr/>
                    <a:lstStyle/>
                    <a:p>
                      <a:r>
                        <a:rPr sz="1200" b="1">
                          <a:solidFill>
                            <a:srgbClr val="5E17EB"/>
                          </a:solidFill>
                        </a:rPr>
                        <a:t>3. Purchase</a:t>
                      </a:r>
                    </a:p>
                  </a:txBody>
                  <a:tcPr>
                    <a:solidFill>
                      <a:srgbClr val="FEFFF5"/>
                    </a:solidFill>
                  </a:tcPr>
                </a:tc>
                <a:tc>
                  <a:txBody>
                    <a:bodyPr/>
                    <a:lstStyle/>
                    <a:p>
                      <a:r>
                        <a:rPr sz="1200" b="0">
                          <a:solidFill>
                            <a:srgbClr val="12101A"/>
                          </a:solidFill>
                        </a:rPr>
                        <a:t>User buys through your existing checkout</a:t>
                      </a:r>
                    </a:p>
                  </a:txBody>
                  <a:tcPr>
                    <a:solidFill>
                      <a:srgbClr val="FEFFF5"/>
                    </a:solidFill>
                  </a:tcPr>
                </a:tc>
                <a:tc>
                  <a:txBody>
                    <a:bodyPr/>
                    <a:lstStyle/>
                    <a:p>
                      <a:r>
                        <a:rPr sz="1200" b="0">
                          <a:solidFill>
                            <a:srgbClr val="12101A"/>
                          </a:solidFill>
                        </a:rPr>
                        <a:t>Your Stripe / Adyen / Worldpay</a:t>
                      </a:r>
                    </a:p>
                  </a:txBody>
                  <a:tcPr>
                    <a:solidFill>
                      <a:srgbClr val="FEFFF5"/>
                    </a:solidFill>
                  </a:tcPr>
                </a:tc>
              </a:tr>
              <a:tr h="579120">
                <a:tc>
                  <a:txBody>
                    <a:bodyPr/>
                    <a:lstStyle/>
                    <a:p>
                      <a:r>
                        <a:rPr sz="1200" b="1">
                          <a:solidFill>
                            <a:srgbClr val="5E17EB"/>
                          </a:solidFill>
                        </a:rPr>
                        <a:t>4. Verify</a:t>
                      </a:r>
                    </a:p>
                  </a:txBody>
                  <a:tcPr>
                    <a:solidFill>
                      <a:srgbClr val="EFE6FE"/>
                    </a:solidFill>
                  </a:tcPr>
                </a:tc>
                <a:tc>
                  <a:txBody>
                    <a:bodyPr/>
                    <a:lstStyle/>
                    <a:p>
                      <a:r>
                        <a:rPr sz="1200" b="0">
                          <a:solidFill>
                            <a:srgbClr val="12101A"/>
                          </a:solidFill>
                        </a:rPr>
                        <a:t>Rako verifies the sale via your payment processor</a:t>
                      </a:r>
                    </a:p>
                  </a:txBody>
                  <a:tcPr>
                    <a:solidFill>
                      <a:srgbClr val="EFE6FE"/>
                    </a:solidFill>
                  </a:tcPr>
                </a:tc>
                <a:tc>
                  <a:txBody>
                    <a:bodyPr/>
                    <a:lstStyle/>
                    <a:p>
                      <a:r>
                        <a:rPr sz="1200" b="0">
                          <a:solidFill>
                            <a:srgbClr val="12101A"/>
                          </a:solidFill>
                        </a:rPr>
                        <a:t>Rako (payment-level attribution)</a:t>
                      </a:r>
                    </a:p>
                  </a:txBody>
                  <a:tcPr>
                    <a:solidFill>
                      <a:srgbClr val="EFE6FE"/>
                    </a:solidFill>
                  </a:tcPr>
                </a:tc>
              </a:tr>
              <a:tr h="579120">
                <a:tc>
                  <a:txBody>
                    <a:bodyPr/>
                    <a:lstStyle/>
                    <a:p>
                      <a:r>
                        <a:rPr sz="1200" b="1">
                          <a:solidFill>
                            <a:srgbClr val="5E17EB"/>
                          </a:solidFill>
                        </a:rPr>
                        <a:t>5. Settle</a:t>
                      </a:r>
                    </a:p>
                  </a:txBody>
                  <a:tcPr>
                    <a:solidFill>
                      <a:srgbClr val="FEFFF5"/>
                    </a:solidFill>
                  </a:tcPr>
                </a:tc>
                <a:tc>
                  <a:txBody>
                    <a:bodyPr/>
                    <a:lstStyle/>
                    <a:p>
                      <a:r>
                        <a:rPr sz="1200" b="0">
                          <a:solidFill>
                            <a:srgbClr val="12101A"/>
                          </a:solidFill>
                        </a:rPr>
                        <a:t>You pay commission only on verified conversions</a:t>
                      </a:r>
                    </a:p>
                  </a:txBody>
                  <a:tcPr>
                    <a:solidFill>
                      <a:srgbClr val="FEFFF5"/>
                    </a:solidFill>
                  </a:tcPr>
                </a:tc>
                <a:tc>
                  <a:txBody>
                    <a:bodyPr/>
                    <a:lstStyle/>
                    <a:p>
                      <a:r>
                        <a:rPr sz="1200" b="0">
                          <a:solidFill>
                            <a:srgbClr val="12101A"/>
                          </a:solidFill>
                        </a:rPr>
                        <a:t>Monthly invoice, matched to your affiliate rates</a:t>
                      </a:r>
                    </a:p>
                  </a:txBody>
                  <a:tcPr>
                    <a:solidFill>
                      <a:srgbClr val="FEFFF5"/>
                    </a:solidFill>
                  </a:tcPr>
                </a:tc>
              </a:tr>
            </a:tbl>
          </a:graphicData>
        </a:graphic>
      </p:graphicFrame>
      <p:sp>
        <p:nvSpPr>
          <p:cNvPr id="8" name="TextBox 7"/>
          <p:cNvSpPr txBox="1"/>
          <p:nvPr/>
        </p:nvSpPr>
        <p:spPr>
          <a:xfrm>
            <a:off x="457200" y="5486400"/>
            <a:ext cx="11247120" cy="365760"/>
          </a:xfrm>
          <a:prstGeom prst="rect">
            <a:avLst/>
          </a:prstGeom>
          <a:noFill/>
        </p:spPr>
        <p:txBody>
          <a:bodyPr wrap="square">
            <a:spAutoFit/>
          </a:bodyPr>
          <a:lstStyle/>
          <a:p>
            <a:pPr algn="ctr"/>
            <a:r>
              <a:rPr sz="1400" b="1" i="0">
                <a:solidFill>
                  <a:srgbClr val="5E17EB"/>
                </a:solidFill>
              </a:rPr>
              <a:t>Non-exclusive. Keep all your existing channels. Rako is additive.</a:t>
            </a:r>
          </a:p>
        </p:txBody>
      </p:sp>
      <p:sp>
        <p:nvSpPr>
          <p:cNvPr id="9" name="TextBox 8"/>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10" name="TextBox 9"/>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640080"/>
          </a:xfrm>
          <a:prstGeom prst="rect">
            <a:avLst/>
          </a:prstGeom>
          <a:noFill/>
        </p:spPr>
        <p:txBody>
          <a:bodyPr wrap="square">
            <a:spAutoFit/>
          </a:bodyPr>
          <a:lstStyle/>
          <a:p>
            <a:pPr algn="l"/>
            <a:r>
              <a:rPr sz="3200" b="1" i="0">
                <a:solidFill>
                  <a:srgbClr val="5E17EB"/>
                </a:solidFill>
              </a:rPr>
              <a:t>Payment-verified attribution. Not cookie-guessing.</a:t>
            </a:r>
          </a:p>
        </p:txBody>
      </p:sp>
      <p:graphicFrame>
        <p:nvGraphicFramePr>
          <p:cNvPr id="5" name="Table 4"/>
          <p:cNvGraphicFramePr>
            <a:graphicFrameLocks noGrp="1"/>
          </p:cNvGraphicFramePr>
          <p:nvPr/>
        </p:nvGraphicFramePr>
        <p:xfrm>
          <a:off x="457200" y="1097280"/>
          <a:ext cx="11247120" cy="4114800"/>
        </p:xfrm>
        <a:graphic>
          <a:graphicData uri="http://schemas.openxmlformats.org/drawingml/2006/table">
            <a:tbl>
              <a:tblPr firstRow="1" bandRow="1">
                <a:tableStyleId>{5C22544A-7EE6-4342-B048-85BDC9FD1C3A}</a:tableStyleId>
              </a:tblPr>
              <a:tblGrid>
                <a:gridCol w="2560320"/>
                <a:gridCol w="4297680"/>
                <a:gridCol w="4389120"/>
              </a:tblGrid>
              <a:tr h="685800">
                <a:tc>
                  <a:txBody>
                    <a:bodyPr/>
                    <a:lstStyle/>
                    <a:p>
                      <a:r>
                        <a:rPr sz="1300" b="1">
                          <a:solidFill>
                            <a:srgbClr val="FEFFF5"/>
                          </a:solidFill>
                        </a:rPr>
                        <a:t/>
                      </a:r>
                    </a:p>
                  </a:txBody>
                  <a:tcPr>
                    <a:solidFill>
                      <a:srgbClr val="5E17EB"/>
                    </a:solidFill>
                  </a:tcPr>
                </a:tc>
                <a:tc>
                  <a:txBody>
                    <a:bodyPr/>
                    <a:lstStyle/>
                    <a:p>
                      <a:r>
                        <a:rPr sz="1300" b="1">
                          <a:solidFill>
                            <a:srgbClr val="FEFFF5"/>
                          </a:solidFill>
                        </a:rPr>
                        <a:t>Traditional Affiliate</a:t>
                      </a:r>
                    </a:p>
                  </a:txBody>
                  <a:tcPr>
                    <a:solidFill>
                      <a:srgbClr val="5E17EB"/>
                    </a:solidFill>
                  </a:tcPr>
                </a:tc>
                <a:tc>
                  <a:txBody>
                    <a:bodyPr/>
                    <a:lstStyle/>
                    <a:p>
                      <a:r>
                        <a:rPr sz="1300" b="1">
                          <a:solidFill>
                            <a:srgbClr val="FEFFF5"/>
                          </a:solidFill>
                        </a:rPr>
                        <a:t>Rako</a:t>
                      </a:r>
                    </a:p>
                  </a:txBody>
                  <a:tcPr>
                    <a:solidFill>
                      <a:srgbClr val="5E17EB"/>
                    </a:solidFill>
                  </a:tcPr>
                </a:tc>
              </a:tr>
              <a:tr h="685800">
                <a:tc>
                  <a:txBody>
                    <a:bodyPr/>
                    <a:lstStyle/>
                    <a:p>
                      <a:r>
                        <a:rPr sz="1200" b="1">
                          <a:solidFill>
                            <a:srgbClr val="12101A"/>
                          </a:solidFill>
                        </a:rPr>
                        <a:t>Attribution</a:t>
                      </a:r>
                    </a:p>
                  </a:txBody>
                  <a:tcPr>
                    <a:solidFill>
                      <a:srgbClr val="FEFFF5"/>
                    </a:solidFill>
                  </a:tcPr>
                </a:tc>
                <a:tc>
                  <a:txBody>
                    <a:bodyPr/>
                    <a:lstStyle/>
                    <a:p>
                      <a:r>
                        <a:rPr sz="1200" b="0">
                          <a:solidFill>
                            <a:srgbClr val="12101A"/>
                          </a:solidFill>
                        </a:rPr>
                        <a:t>Cookie + click</a:t>
                      </a:r>
                    </a:p>
                  </a:txBody>
                  <a:tcPr>
                    <a:solidFill>
                      <a:srgbClr val="FEFFF5"/>
                    </a:solidFill>
                  </a:tcPr>
                </a:tc>
                <a:tc>
                  <a:txBody>
                    <a:bodyPr/>
                    <a:lstStyle/>
                    <a:p>
                      <a:r>
                        <a:rPr sz="1200" b="0">
                          <a:solidFill>
                            <a:srgbClr val="12101A"/>
                          </a:solidFill>
                        </a:rPr>
                        <a:t>Cryptographic AAP Code embedded in payment</a:t>
                      </a:r>
                    </a:p>
                  </a:txBody>
                  <a:tcPr>
                    <a:solidFill>
                      <a:srgbClr val="FEFFF5"/>
                    </a:solidFill>
                  </a:tcPr>
                </a:tc>
              </a:tr>
              <a:tr h="685800">
                <a:tc>
                  <a:txBody>
                    <a:bodyPr/>
                    <a:lstStyle/>
                    <a:p>
                      <a:r>
                        <a:rPr sz="1200" b="1">
                          <a:solidFill>
                            <a:srgbClr val="12101A"/>
                          </a:solidFill>
                        </a:rPr>
                        <a:t>Verification</a:t>
                      </a:r>
                    </a:p>
                  </a:txBody>
                  <a:tcPr>
                    <a:solidFill>
                      <a:srgbClr val="EFE6FE"/>
                    </a:solidFill>
                  </a:tcPr>
                </a:tc>
                <a:tc>
                  <a:txBody>
                    <a:bodyPr/>
                    <a:lstStyle/>
                    <a:p>
                      <a:r>
                        <a:rPr sz="1200" b="0">
                          <a:solidFill>
                            <a:srgbClr val="12101A"/>
                          </a:solidFill>
                        </a:rPr>
                        <a:t>Merchant self-reports</a:t>
                      </a:r>
                    </a:p>
                  </a:txBody>
                  <a:tcPr>
                    <a:solidFill>
                      <a:srgbClr val="EFE6FE"/>
                    </a:solidFill>
                  </a:tcPr>
                </a:tc>
                <a:tc>
                  <a:txBody>
                    <a:bodyPr/>
                    <a:lstStyle/>
                    <a:p>
                      <a:r>
                        <a:rPr sz="1200" b="0">
                          <a:solidFill>
                            <a:srgbClr val="12101A"/>
                          </a:solidFill>
                        </a:rPr>
                        <a:t>Your PSP confirms (Stripe/Adyen webhook)</a:t>
                      </a:r>
                    </a:p>
                  </a:txBody>
                  <a:tcPr>
                    <a:solidFill>
                      <a:srgbClr val="EFE6FE"/>
                    </a:solidFill>
                  </a:tcPr>
                </a:tc>
              </a:tr>
              <a:tr h="685800">
                <a:tc>
                  <a:txBody>
                    <a:bodyPr/>
                    <a:lstStyle/>
                    <a:p>
                      <a:r>
                        <a:rPr sz="1200" b="1">
                          <a:solidFill>
                            <a:srgbClr val="12101A"/>
                          </a:solidFill>
                        </a:rPr>
                        <a:t>Fraud risk</a:t>
                      </a:r>
                    </a:p>
                  </a:txBody>
                  <a:tcPr>
                    <a:solidFill>
                      <a:srgbClr val="FEFFF5"/>
                    </a:solidFill>
                  </a:tcPr>
                </a:tc>
                <a:tc>
                  <a:txBody>
                    <a:bodyPr/>
                    <a:lstStyle/>
                    <a:p>
                      <a:r>
                        <a:rPr sz="1200" b="0">
                          <a:solidFill>
                            <a:srgbClr val="12101A"/>
                          </a:solidFill>
                        </a:rPr>
                        <a:t>Cookie stuffing, click fraud</a:t>
                      </a:r>
                    </a:p>
                  </a:txBody>
                  <a:tcPr>
                    <a:solidFill>
                      <a:srgbClr val="FEFFF5"/>
                    </a:solidFill>
                  </a:tcPr>
                </a:tc>
                <a:tc>
                  <a:txBody>
                    <a:bodyPr/>
                    <a:lstStyle/>
                    <a:p>
                      <a:r>
                        <a:rPr sz="1200" b="0">
                          <a:solidFill>
                            <a:srgbClr val="12101A"/>
                          </a:solidFill>
                        </a:rPr>
                        <a:t>No cookies to stuff, no links to click</a:t>
                      </a:r>
                    </a:p>
                  </a:txBody>
                  <a:tcPr>
                    <a:solidFill>
                      <a:srgbClr val="FEFFF5"/>
                    </a:solidFill>
                  </a:tcPr>
                </a:tc>
              </a:tr>
              <a:tr h="685800">
                <a:tc>
                  <a:txBody>
                    <a:bodyPr/>
                    <a:lstStyle/>
                    <a:p>
                      <a:r>
                        <a:rPr sz="1200" b="1">
                          <a:solidFill>
                            <a:srgbClr val="12101A"/>
                          </a:solidFill>
                        </a:rPr>
                        <a:t>Agent support</a:t>
                      </a:r>
                    </a:p>
                  </a:txBody>
                  <a:tcPr>
                    <a:solidFill>
                      <a:srgbClr val="EFE6FE"/>
                    </a:solidFill>
                  </a:tcPr>
                </a:tc>
                <a:tc>
                  <a:txBody>
                    <a:bodyPr/>
                    <a:lstStyle/>
                    <a:p>
                      <a:r>
                        <a:rPr sz="1200" b="0">
                          <a:solidFill>
                            <a:srgbClr val="12101A"/>
                          </a:solidFill>
                        </a:rPr>
                        <a:t>None — built for browsers</a:t>
                      </a:r>
                    </a:p>
                  </a:txBody>
                  <a:tcPr>
                    <a:solidFill>
                      <a:srgbClr val="EFE6FE"/>
                    </a:solidFill>
                  </a:tcPr>
                </a:tc>
                <a:tc>
                  <a:txBody>
                    <a:bodyPr/>
                    <a:lstStyle/>
                    <a:p>
                      <a:r>
                        <a:rPr sz="1200" b="0">
                          <a:solidFill>
                            <a:srgbClr val="12101A"/>
                          </a:solidFill>
                        </a:rPr>
                        <a:t>Native — built for agents</a:t>
                      </a:r>
                    </a:p>
                  </a:txBody>
                  <a:tcPr>
                    <a:solidFill>
                      <a:srgbClr val="EFE6FE"/>
                    </a:solidFill>
                  </a:tcPr>
                </a:tc>
              </a:tr>
              <a:tr h="685800">
                <a:tc>
                  <a:txBody>
                    <a:bodyPr/>
                    <a:lstStyle/>
                    <a:p>
                      <a:r>
                        <a:rPr sz="1200" b="1">
                          <a:solidFill>
                            <a:srgbClr val="12101A"/>
                          </a:solidFill>
                        </a:rPr>
                        <a:t>Commission disputes</a:t>
                      </a:r>
                    </a:p>
                  </a:txBody>
                  <a:tcPr>
                    <a:solidFill>
                      <a:srgbClr val="FEFFF5"/>
                    </a:solidFill>
                  </a:tcPr>
                </a:tc>
                <a:tc>
                  <a:txBody>
                    <a:bodyPr/>
                    <a:lstStyle/>
                    <a:p>
                      <a:r>
                        <a:rPr sz="1200" b="0">
                          <a:solidFill>
                            <a:srgbClr val="12101A"/>
                          </a:solidFill>
                        </a:rPr>
                        <a:t>Common (30-day validation, manual review)</a:t>
                      </a:r>
                    </a:p>
                  </a:txBody>
                  <a:tcPr>
                    <a:solidFill>
                      <a:srgbClr val="FEFFF5"/>
                    </a:solidFill>
                  </a:tcPr>
                </a:tc>
                <a:tc>
                  <a:txBody>
                    <a:bodyPr/>
                    <a:lstStyle/>
                    <a:p>
                      <a:r>
                        <a:rPr sz="1200" b="0">
                          <a:solidFill>
                            <a:srgbClr val="12101A"/>
                          </a:solidFill>
                        </a:rPr>
                        <a:t>Rare (PSP is neutral third party)</a:t>
                      </a:r>
                    </a:p>
                  </a:txBody>
                  <a:tcPr>
                    <a:solidFill>
                      <a:srgbClr val="FEFFF5"/>
                    </a:solidFill>
                  </a:tcPr>
                </a:tc>
              </a:tr>
            </a:tbl>
          </a:graphicData>
        </a:graphic>
      </p:graphicFrame>
      <p:sp>
        <p:nvSpPr>
          <p:cNvPr id="6" name="TextBox 5"/>
          <p:cNvSpPr txBox="1"/>
          <p:nvPr/>
        </p:nvSpPr>
        <p:spPr>
          <a:xfrm>
            <a:off x="457200" y="5486400"/>
            <a:ext cx="11247120" cy="365760"/>
          </a:xfrm>
          <a:prstGeom prst="rect">
            <a:avLst/>
          </a:prstGeom>
          <a:noFill/>
        </p:spPr>
        <p:txBody>
          <a:bodyPr wrap="square">
            <a:spAutoFit/>
          </a:bodyPr>
          <a:lstStyle/>
          <a:p>
            <a:pPr algn="l"/>
            <a:r>
              <a:rPr sz="1300" b="0" i="1">
                <a:solidFill>
                  <a:srgbClr val="3A3548"/>
                </a:solidFill>
              </a:rPr>
              <a:t>Your payment processor has no stake in whether commission is paid. It just confirms what happened.</a:t>
            </a:r>
          </a:p>
        </p:txBody>
      </p:sp>
      <p:sp>
        <p:nvSpPr>
          <p:cNvPr id="7" name="TextBox 6"/>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8" name="TextBox 7"/>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640080"/>
          </a:xfrm>
          <a:prstGeom prst="rect">
            <a:avLst/>
          </a:prstGeom>
          <a:noFill/>
        </p:spPr>
        <p:txBody>
          <a:bodyPr wrap="square">
            <a:spAutoFit/>
          </a:bodyPr>
          <a:lstStyle/>
          <a:p>
            <a:pPr algn="l"/>
            <a:r>
              <a:rPr sz="3200" b="1" i="0">
                <a:solidFill>
                  <a:srgbClr val="5E17EB"/>
                </a:solidFill>
              </a:rPr>
              <a:t>A new acquisition channel. Launched in 48 hours.</a:t>
            </a:r>
          </a:p>
        </p:txBody>
      </p:sp>
      <p:sp>
        <p:nvSpPr>
          <p:cNvPr id="5" name="TextBox 4"/>
          <p:cNvSpPr txBox="1"/>
          <p:nvPr/>
        </p:nvSpPr>
        <p:spPr>
          <a:xfrm>
            <a:off x="457200" y="1051560"/>
            <a:ext cx="5029200" cy="457200"/>
          </a:xfrm>
          <a:prstGeom prst="rect">
            <a:avLst/>
          </a:prstGeom>
          <a:noFill/>
        </p:spPr>
        <p:txBody>
          <a:bodyPr wrap="square">
            <a:spAutoFit/>
          </a:bodyPr>
          <a:lstStyle/>
          <a:p>
            <a:pPr algn="l"/>
            <a:r>
              <a:rPr sz="1500" b="1" i="0">
                <a:solidFill>
                  <a:srgbClr val="5E17EB"/>
                </a:solidFill>
              </a:rPr>
              <a:t>✅  Agent visibility</a:t>
            </a:r>
          </a:p>
        </p:txBody>
      </p:sp>
      <p:sp>
        <p:nvSpPr>
          <p:cNvPr id="6" name="TextBox 5"/>
          <p:cNvSpPr txBox="1"/>
          <p:nvPr/>
        </p:nvSpPr>
        <p:spPr>
          <a:xfrm>
            <a:off x="5394960" y="1051560"/>
            <a:ext cx="6309360" cy="457200"/>
          </a:xfrm>
          <a:prstGeom prst="rect">
            <a:avLst/>
          </a:prstGeom>
          <a:noFill/>
        </p:spPr>
        <p:txBody>
          <a:bodyPr wrap="square">
            <a:spAutoFit/>
          </a:bodyPr>
          <a:lstStyle/>
          <a:p>
            <a:pPr algn="l"/>
            <a:r>
              <a:rPr sz="1400" b="0" i="0">
                <a:solidFill>
                  <a:srgbClr val="12101A"/>
                </a:solidFill>
              </a:rPr>
              <a:t>Your products discoverable by every AI agent on the network</a:t>
            </a:r>
          </a:p>
        </p:txBody>
      </p:sp>
      <p:sp>
        <p:nvSpPr>
          <p:cNvPr id="7" name="TextBox 6"/>
          <p:cNvSpPr txBox="1"/>
          <p:nvPr/>
        </p:nvSpPr>
        <p:spPr>
          <a:xfrm>
            <a:off x="457200" y="1600200"/>
            <a:ext cx="5029200" cy="457200"/>
          </a:xfrm>
          <a:prstGeom prst="rect">
            <a:avLst/>
          </a:prstGeom>
          <a:noFill/>
        </p:spPr>
        <p:txBody>
          <a:bodyPr wrap="square">
            <a:spAutoFit/>
          </a:bodyPr>
          <a:lstStyle/>
          <a:p>
            <a:pPr algn="l"/>
            <a:r>
              <a:rPr sz="1500" b="1" i="0">
                <a:solidFill>
                  <a:srgbClr val="5E17EB"/>
                </a:solidFill>
              </a:rPr>
              <a:t>✅  Verified attribution</a:t>
            </a:r>
          </a:p>
        </p:txBody>
      </p:sp>
      <p:sp>
        <p:nvSpPr>
          <p:cNvPr id="8" name="TextBox 7"/>
          <p:cNvSpPr txBox="1"/>
          <p:nvPr/>
        </p:nvSpPr>
        <p:spPr>
          <a:xfrm>
            <a:off x="5394960" y="1600200"/>
            <a:ext cx="6309360" cy="457200"/>
          </a:xfrm>
          <a:prstGeom prst="rect">
            <a:avLst/>
          </a:prstGeom>
          <a:noFill/>
        </p:spPr>
        <p:txBody>
          <a:bodyPr wrap="square">
            <a:spAutoFit/>
          </a:bodyPr>
          <a:lstStyle/>
          <a:p>
            <a:pPr algn="l"/>
            <a:r>
              <a:rPr sz="1400" b="0" i="0">
                <a:solidFill>
                  <a:srgbClr val="12101A"/>
                </a:solidFill>
              </a:rPr>
              <a:t>Payment-level proof, not cookie guessing</a:t>
            </a:r>
          </a:p>
        </p:txBody>
      </p:sp>
      <p:sp>
        <p:nvSpPr>
          <p:cNvPr id="9" name="TextBox 8"/>
          <p:cNvSpPr txBox="1"/>
          <p:nvPr/>
        </p:nvSpPr>
        <p:spPr>
          <a:xfrm>
            <a:off x="457200" y="2148840"/>
            <a:ext cx="5029200" cy="457200"/>
          </a:xfrm>
          <a:prstGeom prst="rect">
            <a:avLst/>
          </a:prstGeom>
          <a:noFill/>
        </p:spPr>
        <p:txBody>
          <a:bodyPr wrap="square">
            <a:spAutoFit/>
          </a:bodyPr>
          <a:lstStyle/>
          <a:p>
            <a:pPr algn="l"/>
            <a:r>
              <a:rPr sz="1500" b="1" i="0">
                <a:solidFill>
                  <a:srgbClr val="5E17EB"/>
                </a:solidFill>
              </a:rPr>
              <a:t>✅  Zero platform fees for 24 months</a:t>
            </a:r>
          </a:p>
        </p:txBody>
      </p:sp>
      <p:sp>
        <p:nvSpPr>
          <p:cNvPr id="10" name="TextBox 9"/>
          <p:cNvSpPr txBox="1"/>
          <p:nvPr/>
        </p:nvSpPr>
        <p:spPr>
          <a:xfrm>
            <a:off x="5394960" y="2148840"/>
            <a:ext cx="6309360" cy="457200"/>
          </a:xfrm>
          <a:prstGeom prst="rect">
            <a:avLst/>
          </a:prstGeom>
          <a:noFill/>
        </p:spPr>
        <p:txBody>
          <a:bodyPr wrap="square">
            <a:spAutoFit/>
          </a:bodyPr>
          <a:lstStyle/>
          <a:p>
            <a:pPr algn="l"/>
            <a:r>
              <a:rPr sz="1400" b="0" i="0">
                <a:solidFill>
                  <a:srgbClr val="12101A"/>
                </a:solidFill>
              </a:rPr>
              <a:t>Founding merchant benefit</a:t>
            </a:r>
          </a:p>
        </p:txBody>
      </p:sp>
      <p:sp>
        <p:nvSpPr>
          <p:cNvPr id="11" name="TextBox 10"/>
          <p:cNvSpPr txBox="1"/>
          <p:nvPr/>
        </p:nvSpPr>
        <p:spPr>
          <a:xfrm>
            <a:off x="457200" y="2697480"/>
            <a:ext cx="5029200" cy="457200"/>
          </a:xfrm>
          <a:prstGeom prst="rect">
            <a:avLst/>
          </a:prstGeom>
          <a:noFill/>
        </p:spPr>
        <p:txBody>
          <a:bodyPr wrap="square">
            <a:spAutoFit/>
          </a:bodyPr>
          <a:lstStyle/>
          <a:p>
            <a:pPr algn="l"/>
            <a:r>
              <a:rPr sz="1500" b="1" i="0">
                <a:solidFill>
                  <a:srgbClr val="5E17EB"/>
                </a:solidFill>
              </a:rPr>
              <a:t>✅  Commission matched to your best tier</a:t>
            </a:r>
          </a:p>
        </p:txBody>
      </p:sp>
      <p:sp>
        <p:nvSpPr>
          <p:cNvPr id="12" name="TextBox 11"/>
          <p:cNvSpPr txBox="1"/>
          <p:nvPr/>
        </p:nvSpPr>
        <p:spPr>
          <a:xfrm>
            <a:off x="5394960" y="2697480"/>
            <a:ext cx="6309360" cy="457200"/>
          </a:xfrm>
          <a:prstGeom prst="rect">
            <a:avLst/>
          </a:prstGeom>
          <a:noFill/>
        </p:spPr>
        <p:txBody>
          <a:bodyPr wrap="square">
            <a:spAutoFit/>
          </a:bodyPr>
          <a:lstStyle/>
          <a:p>
            <a:pPr algn="l"/>
            <a:r>
              <a:rPr sz="1400" b="0" i="0">
                <a:solidFill>
                  <a:srgbClr val="12101A"/>
                </a:solidFill>
              </a:rPr>
              <a:t>We match your Awin / Impact / CJ rate</a:t>
            </a:r>
          </a:p>
        </p:txBody>
      </p:sp>
      <p:sp>
        <p:nvSpPr>
          <p:cNvPr id="13" name="TextBox 12"/>
          <p:cNvSpPr txBox="1"/>
          <p:nvPr/>
        </p:nvSpPr>
        <p:spPr>
          <a:xfrm>
            <a:off x="457200" y="3246120"/>
            <a:ext cx="5029200" cy="457200"/>
          </a:xfrm>
          <a:prstGeom prst="rect">
            <a:avLst/>
          </a:prstGeom>
          <a:noFill/>
        </p:spPr>
        <p:txBody>
          <a:bodyPr wrap="square">
            <a:spAutoFit/>
          </a:bodyPr>
          <a:lstStyle/>
          <a:p>
            <a:pPr algn="l"/>
            <a:r>
              <a:rPr sz="1500" b="1" i="0">
                <a:solidFill>
                  <a:srgbClr val="5E17EB"/>
                </a:solidFill>
              </a:rPr>
              <a:t>✅  Merchant dashboard</a:t>
            </a:r>
          </a:p>
        </p:txBody>
      </p:sp>
      <p:sp>
        <p:nvSpPr>
          <p:cNvPr id="14" name="TextBox 13"/>
          <p:cNvSpPr txBox="1"/>
          <p:nvPr/>
        </p:nvSpPr>
        <p:spPr>
          <a:xfrm>
            <a:off x="5394960" y="3246120"/>
            <a:ext cx="6309360" cy="457200"/>
          </a:xfrm>
          <a:prstGeom prst="rect">
            <a:avLst/>
          </a:prstGeom>
          <a:noFill/>
        </p:spPr>
        <p:txBody>
          <a:bodyPr wrap="square">
            <a:spAutoFit/>
          </a:bodyPr>
          <a:lstStyle/>
          <a:p>
            <a:pPr algn="l"/>
            <a:r>
              <a:rPr sz="1400" b="0" i="0">
                <a:solidFill>
                  <a:srgbClr val="12101A"/>
                </a:solidFill>
              </a:rPr>
              <a:t>See which agents recommend you, conversion rates, commission</a:t>
            </a:r>
          </a:p>
        </p:txBody>
      </p:sp>
      <p:sp>
        <p:nvSpPr>
          <p:cNvPr id="15" name="TextBox 14"/>
          <p:cNvSpPr txBox="1"/>
          <p:nvPr/>
        </p:nvSpPr>
        <p:spPr>
          <a:xfrm>
            <a:off x="457200" y="3794760"/>
            <a:ext cx="5029200" cy="457200"/>
          </a:xfrm>
          <a:prstGeom prst="rect">
            <a:avLst/>
          </a:prstGeom>
          <a:noFill/>
        </p:spPr>
        <p:txBody>
          <a:bodyPr wrap="square">
            <a:spAutoFit/>
          </a:bodyPr>
          <a:lstStyle/>
          <a:p>
            <a:pPr algn="l"/>
            <a:r>
              <a:rPr sz="1500" b="1" i="0">
                <a:solidFill>
                  <a:srgbClr val="5E17EB"/>
                </a:solidFill>
              </a:rPr>
              <a:t>✅  Zero integration work</a:t>
            </a:r>
          </a:p>
        </p:txBody>
      </p:sp>
      <p:sp>
        <p:nvSpPr>
          <p:cNvPr id="16" name="TextBox 15"/>
          <p:cNvSpPr txBox="1"/>
          <p:nvPr/>
        </p:nvSpPr>
        <p:spPr>
          <a:xfrm>
            <a:off x="5394960" y="3794760"/>
            <a:ext cx="6309360" cy="457200"/>
          </a:xfrm>
          <a:prstGeom prst="rect">
            <a:avLst/>
          </a:prstGeom>
          <a:noFill/>
        </p:spPr>
        <p:txBody>
          <a:bodyPr wrap="square">
            <a:spAutoFit/>
          </a:bodyPr>
          <a:lstStyle/>
          <a:p>
            <a:pPr algn="l"/>
            <a:r>
              <a:rPr sz="1400" b="0" i="0">
                <a:solidFill>
                  <a:srgbClr val="12101A"/>
                </a:solidFill>
              </a:rPr>
              <a:t>Connect your Stripe (2 clicks, OAuth, scoped permissions)</a:t>
            </a:r>
          </a:p>
        </p:txBody>
      </p:sp>
      <p:sp>
        <p:nvSpPr>
          <p:cNvPr id="17" name="TextBox 16"/>
          <p:cNvSpPr txBox="1"/>
          <p:nvPr/>
        </p:nvSpPr>
        <p:spPr>
          <a:xfrm>
            <a:off x="457200" y="4343400"/>
            <a:ext cx="5029200" cy="457200"/>
          </a:xfrm>
          <a:prstGeom prst="rect">
            <a:avLst/>
          </a:prstGeom>
          <a:noFill/>
        </p:spPr>
        <p:txBody>
          <a:bodyPr wrap="square">
            <a:spAutoFit/>
          </a:bodyPr>
          <a:lstStyle/>
          <a:p>
            <a:pPr algn="l"/>
            <a:r>
              <a:rPr sz="1500" b="1" i="0">
                <a:solidFill>
                  <a:srgbClr val="5E17EB"/>
                </a:solidFill>
              </a:rPr>
              <a:t>✅  Non-exclusive</a:t>
            </a:r>
          </a:p>
        </p:txBody>
      </p:sp>
      <p:sp>
        <p:nvSpPr>
          <p:cNvPr id="18" name="TextBox 17"/>
          <p:cNvSpPr txBox="1"/>
          <p:nvPr/>
        </p:nvSpPr>
        <p:spPr>
          <a:xfrm>
            <a:off x="5394960" y="4343400"/>
            <a:ext cx="6309360" cy="457200"/>
          </a:xfrm>
          <a:prstGeom prst="rect">
            <a:avLst/>
          </a:prstGeom>
          <a:noFill/>
        </p:spPr>
        <p:txBody>
          <a:bodyPr wrap="square">
            <a:spAutoFit/>
          </a:bodyPr>
          <a:lstStyle/>
          <a:p>
            <a:pPr algn="l"/>
            <a:r>
              <a:rPr sz="1400" b="0" i="0">
                <a:solidFill>
                  <a:srgbClr val="12101A"/>
                </a:solidFill>
              </a:rPr>
              <a:t>Keep every channel you have. We're additive.</a:t>
            </a:r>
          </a:p>
        </p:txBody>
      </p:sp>
      <p:sp>
        <p:nvSpPr>
          <p:cNvPr id="19" name="TextBox 18"/>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20" name="TextBox 19"/>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640080"/>
          </a:xfrm>
          <a:prstGeom prst="rect">
            <a:avLst/>
          </a:prstGeom>
          <a:noFill/>
        </p:spPr>
        <p:txBody>
          <a:bodyPr wrap="square">
            <a:spAutoFit/>
          </a:bodyPr>
          <a:lstStyle/>
          <a:p>
            <a:pPr algn="l"/>
            <a:r>
              <a:rPr sz="3200" b="1" i="0">
                <a:solidFill>
                  <a:srgbClr val="5E17EB"/>
                </a:solidFill>
              </a:rPr>
              <a:t>Open protocol. Centralised trust. Like DNS, like Visa.</a:t>
            </a:r>
          </a:p>
        </p:txBody>
      </p:sp>
      <p:graphicFrame>
        <p:nvGraphicFramePr>
          <p:cNvPr id="5" name="Table 4"/>
          <p:cNvGraphicFramePr>
            <a:graphicFrameLocks noGrp="1"/>
          </p:cNvGraphicFramePr>
          <p:nvPr/>
        </p:nvGraphicFramePr>
        <p:xfrm>
          <a:off x="457200" y="1097280"/>
          <a:ext cx="11247120" cy="2743200"/>
        </p:xfrm>
        <a:graphic>
          <a:graphicData uri="http://schemas.openxmlformats.org/drawingml/2006/table">
            <a:tbl>
              <a:tblPr firstRow="1" bandRow="1">
                <a:tableStyleId>{5C22544A-7EE6-4342-B048-85BDC9FD1C3A}</a:tableStyleId>
              </a:tblPr>
              <a:tblGrid>
                <a:gridCol w="4846320"/>
                <a:gridCol w="3474720"/>
                <a:gridCol w="2926080"/>
              </a:tblGrid>
              <a:tr h="548640">
                <a:tc>
                  <a:txBody>
                    <a:bodyPr/>
                    <a:lstStyle/>
                    <a:p>
                      <a:r>
                        <a:rPr sz="1300" b="1">
                          <a:solidFill>
                            <a:srgbClr val="FEFFF5"/>
                          </a:solidFill>
                        </a:rPr>
                        <a:t>Layer</a:t>
                      </a:r>
                    </a:p>
                  </a:txBody>
                  <a:tcPr>
                    <a:solidFill>
                      <a:srgbClr val="5E17EB"/>
                    </a:solidFill>
                  </a:tcPr>
                </a:tc>
                <a:tc>
                  <a:txBody>
                    <a:bodyPr/>
                    <a:lstStyle/>
                    <a:p>
                      <a:r>
                        <a:rPr sz="1300" b="1">
                          <a:solidFill>
                            <a:srgbClr val="FEFFF5"/>
                          </a:solidFill>
                        </a:rPr>
                        <a:t>Model</a:t>
                      </a:r>
                    </a:p>
                  </a:txBody>
                  <a:tcPr>
                    <a:solidFill>
                      <a:srgbClr val="5E17EB"/>
                    </a:solidFill>
                  </a:tcPr>
                </a:tc>
                <a:tc>
                  <a:txBody>
                    <a:bodyPr/>
                    <a:lstStyle/>
                    <a:p>
                      <a:r>
                        <a:rPr sz="1300" b="1">
                          <a:solidFill>
                            <a:srgbClr val="FEFFF5"/>
                          </a:solidFill>
                        </a:rPr>
                        <a:t>Analogy</a:t>
                      </a:r>
                    </a:p>
                  </a:txBody>
                  <a:tcPr>
                    <a:solidFill>
                      <a:srgbClr val="5E17EB"/>
                    </a:solidFill>
                  </a:tcPr>
                </a:tc>
              </a:tr>
              <a:tr h="548640">
                <a:tc>
                  <a:txBody>
                    <a:bodyPr/>
                    <a:lstStyle/>
                    <a:p>
                      <a:r>
                        <a:rPr sz="1200" b="1">
                          <a:solidFill>
                            <a:srgbClr val="12101A"/>
                          </a:solidFill>
                        </a:rPr>
                        <a:t>Spec (how offers and recommendations work)</a:t>
                      </a:r>
                    </a:p>
                  </a:txBody>
                  <a:tcPr>
                    <a:solidFill>
                      <a:srgbClr val="FEFFF5"/>
                    </a:solidFill>
                  </a:tcPr>
                </a:tc>
                <a:tc>
                  <a:txBody>
                    <a:bodyPr/>
                    <a:lstStyle/>
                    <a:p>
                      <a:r>
                        <a:rPr sz="1200" b="0">
                          <a:solidFill>
                            <a:srgbClr val="12101A"/>
                          </a:solidFill>
                        </a:rPr>
                        <a:t>Open — Apache 2.0</a:t>
                      </a:r>
                    </a:p>
                  </a:txBody>
                  <a:tcPr>
                    <a:solidFill>
                      <a:srgbClr val="FEFFF5"/>
                    </a:solidFill>
                  </a:tcPr>
                </a:tc>
                <a:tc>
                  <a:txBody>
                    <a:bodyPr/>
                    <a:lstStyle/>
                    <a:p>
                      <a:r>
                        <a:rPr sz="1200" b="0">
                          <a:solidFill>
                            <a:srgbClr val="12101A"/>
                          </a:solidFill>
                        </a:rPr>
                        <a:t>DNS specification</a:t>
                      </a:r>
                    </a:p>
                  </a:txBody>
                  <a:tcPr>
                    <a:solidFill>
                      <a:srgbClr val="FEFFF5"/>
                    </a:solidFill>
                  </a:tcPr>
                </a:tc>
              </a:tr>
              <a:tr h="548640">
                <a:tc>
                  <a:txBody>
                    <a:bodyPr/>
                    <a:lstStyle/>
                    <a:p>
                      <a:r>
                        <a:rPr sz="1200" b="1">
                          <a:solidFill>
                            <a:srgbClr val="12101A"/>
                          </a:solidFill>
                        </a:rPr>
                        <a:t>AAP Code (signed attribution token)</a:t>
                      </a:r>
                    </a:p>
                  </a:txBody>
                  <a:tcPr>
                    <a:solidFill>
                      <a:srgbClr val="EFE6FE"/>
                    </a:solidFill>
                  </a:tcPr>
                </a:tc>
                <a:tc>
                  <a:txBody>
                    <a:bodyPr/>
                    <a:lstStyle/>
                    <a:p>
                      <a:r>
                        <a:rPr sz="1200" b="0">
                          <a:solidFill>
                            <a:srgbClr val="12101A"/>
                          </a:solidFill>
                        </a:rPr>
                        <a:t>Centralised — issued by Rako</a:t>
                      </a:r>
                    </a:p>
                  </a:txBody>
                  <a:tcPr>
                    <a:solidFill>
                      <a:srgbClr val="EFE6FE"/>
                    </a:solidFill>
                  </a:tcPr>
                </a:tc>
                <a:tc>
                  <a:txBody>
                    <a:bodyPr/>
                    <a:lstStyle/>
                    <a:p>
                      <a:r>
                        <a:rPr sz="1200" b="0">
                          <a:solidFill>
                            <a:srgbClr val="12101A"/>
                          </a:solidFill>
                        </a:rPr>
                        <a:t>Domain name from a registrar</a:t>
                      </a:r>
                    </a:p>
                  </a:txBody>
                  <a:tcPr>
                    <a:solidFill>
                      <a:srgbClr val="EFE6FE"/>
                    </a:solidFill>
                  </a:tcPr>
                </a:tc>
              </a:tr>
              <a:tr h="548640">
                <a:tc>
                  <a:txBody>
                    <a:bodyPr/>
                    <a:lstStyle/>
                    <a:p>
                      <a:r>
                        <a:rPr sz="1200" b="1">
                          <a:solidFill>
                            <a:srgbClr val="12101A"/>
                          </a:solidFill>
                        </a:rPr>
                        <a:t>Verification</a:t>
                      </a:r>
                    </a:p>
                  </a:txBody>
                  <a:tcPr>
                    <a:solidFill>
                      <a:srgbClr val="FEFFF5"/>
                    </a:solidFill>
                  </a:tcPr>
                </a:tc>
                <a:tc>
                  <a:txBody>
                    <a:bodyPr/>
                    <a:lstStyle/>
                    <a:p>
                      <a:r>
                        <a:rPr sz="1200" b="0">
                          <a:solidFill>
                            <a:srgbClr val="12101A"/>
                          </a:solidFill>
                        </a:rPr>
                        <a:t>Centralised — verified by Rako</a:t>
                      </a:r>
                    </a:p>
                  </a:txBody>
                  <a:tcPr>
                    <a:solidFill>
                      <a:srgbClr val="FEFFF5"/>
                    </a:solidFill>
                  </a:tcPr>
                </a:tc>
                <a:tc>
                  <a:txBody>
                    <a:bodyPr/>
                    <a:lstStyle/>
                    <a:p>
                      <a:r>
                        <a:rPr sz="1200" b="0">
                          <a:solidFill>
                            <a:srgbClr val="12101A"/>
                          </a:solidFill>
                        </a:rPr>
                        <a:t>Visa verifying a transaction</a:t>
                      </a:r>
                    </a:p>
                  </a:txBody>
                  <a:tcPr>
                    <a:solidFill>
                      <a:srgbClr val="FEFFF5"/>
                    </a:solidFill>
                  </a:tcPr>
                </a:tc>
              </a:tr>
              <a:tr h="548640">
                <a:tc>
                  <a:txBody>
                    <a:bodyPr/>
                    <a:lstStyle/>
                    <a:p>
                      <a:r>
                        <a:rPr sz="1200" b="1">
                          <a:solidFill>
                            <a:srgbClr val="12101A"/>
                          </a:solidFill>
                        </a:rPr>
                        <a:t>Registry (merchants, agents, offers)</a:t>
                      </a:r>
                    </a:p>
                  </a:txBody>
                  <a:tcPr>
                    <a:solidFill>
                      <a:srgbClr val="EFE6FE"/>
                    </a:solidFill>
                  </a:tcPr>
                </a:tc>
                <a:tc>
                  <a:txBody>
                    <a:bodyPr/>
                    <a:lstStyle/>
                    <a:p>
                      <a:r>
                        <a:rPr sz="1200" b="0">
                          <a:solidFill>
                            <a:srgbClr val="12101A"/>
                          </a:solidFill>
                        </a:rPr>
                        <a:t>Centralised — operated by Rako</a:t>
                      </a:r>
                    </a:p>
                  </a:txBody>
                  <a:tcPr>
                    <a:solidFill>
                      <a:srgbClr val="EFE6FE"/>
                    </a:solidFill>
                  </a:tcPr>
                </a:tc>
                <a:tc>
                  <a:txBody>
                    <a:bodyPr/>
                    <a:lstStyle/>
                    <a:p>
                      <a:r>
                        <a:rPr sz="1200" b="0">
                          <a:solidFill>
                            <a:srgbClr val="12101A"/>
                          </a:solidFill>
                        </a:rPr>
                        <a:t>Stripe merchant network</a:t>
                      </a:r>
                    </a:p>
                  </a:txBody>
                  <a:tcPr>
                    <a:solidFill>
                      <a:srgbClr val="EFE6FE"/>
                    </a:solidFill>
                  </a:tcPr>
                </a:tc>
              </a:tr>
            </a:tbl>
          </a:graphicData>
        </a:graphic>
      </p:graphicFrame>
      <p:sp>
        <p:nvSpPr>
          <p:cNvPr id="6" name="TextBox 5"/>
          <p:cNvSpPr txBox="1"/>
          <p:nvPr/>
        </p:nvSpPr>
        <p:spPr>
          <a:xfrm>
            <a:off x="457200" y="4023360"/>
            <a:ext cx="3657600" cy="320040"/>
          </a:xfrm>
          <a:prstGeom prst="rect">
            <a:avLst/>
          </a:prstGeom>
          <a:noFill/>
        </p:spPr>
        <p:txBody>
          <a:bodyPr wrap="square">
            <a:spAutoFit/>
          </a:bodyPr>
          <a:lstStyle/>
          <a:p>
            <a:pPr algn="l"/>
            <a:r>
              <a:rPr sz="1400" b="1" i="0">
                <a:solidFill>
                  <a:srgbClr val="12101A"/>
                </a:solidFill>
              </a:rPr>
              <a:t>Integration options:</a:t>
            </a:r>
          </a:p>
        </p:txBody>
      </p:sp>
      <p:sp>
        <p:nvSpPr>
          <p:cNvPr id="7" name="TextBox 6"/>
          <p:cNvSpPr txBox="1"/>
          <p:nvPr/>
        </p:nvSpPr>
        <p:spPr>
          <a:xfrm>
            <a:off x="457200" y="4389120"/>
            <a:ext cx="9144000" cy="320040"/>
          </a:xfrm>
          <a:prstGeom prst="rect">
            <a:avLst/>
          </a:prstGeom>
          <a:noFill/>
        </p:spPr>
        <p:txBody>
          <a:bodyPr wrap="square">
            <a:spAutoFit/>
          </a:bodyPr>
          <a:lstStyle/>
          <a:p>
            <a:pPr algn="l"/>
            <a:r>
              <a:rPr sz="1300" b="0" i="0">
                <a:solidFill>
                  <a:srgbClr val="12101A"/>
                </a:solidFill>
              </a:rPr>
              <a:t>MCP Server → Claude, ChatGPT, any MCP-compatible agent</a:t>
            </a:r>
          </a:p>
        </p:txBody>
      </p:sp>
      <p:sp>
        <p:nvSpPr>
          <p:cNvPr id="8" name="TextBox 7"/>
          <p:cNvSpPr txBox="1"/>
          <p:nvPr/>
        </p:nvSpPr>
        <p:spPr>
          <a:xfrm>
            <a:off x="457200" y="4736592"/>
            <a:ext cx="9144000" cy="320040"/>
          </a:xfrm>
          <a:prstGeom prst="rect">
            <a:avLst/>
          </a:prstGeom>
          <a:noFill/>
        </p:spPr>
        <p:txBody>
          <a:bodyPr wrap="square">
            <a:spAutoFit/>
          </a:bodyPr>
          <a:lstStyle/>
          <a:p>
            <a:pPr algn="l"/>
            <a:r>
              <a:rPr sz="1300" b="0" i="0">
                <a:solidFill>
                  <a:srgbClr val="12101A"/>
                </a:solidFill>
              </a:rPr>
              <a:t>Python SDK → pip install agent-attribution-protocol</a:t>
            </a:r>
          </a:p>
        </p:txBody>
      </p:sp>
      <p:sp>
        <p:nvSpPr>
          <p:cNvPr id="9" name="TextBox 8"/>
          <p:cNvSpPr txBox="1"/>
          <p:nvPr/>
        </p:nvSpPr>
        <p:spPr>
          <a:xfrm>
            <a:off x="457200" y="5084064"/>
            <a:ext cx="9144000" cy="320040"/>
          </a:xfrm>
          <a:prstGeom prst="rect">
            <a:avLst/>
          </a:prstGeom>
          <a:noFill/>
        </p:spPr>
        <p:txBody>
          <a:bodyPr wrap="square">
            <a:spAutoFit/>
          </a:bodyPr>
          <a:lstStyle/>
          <a:p>
            <a:pPr algn="l"/>
            <a:r>
              <a:rPr sz="1300" b="0" i="0">
                <a:solidFill>
                  <a:srgbClr val="12101A"/>
                </a:solidFill>
              </a:rPr>
              <a:t>JS/TS SDK → npm install @rakohq/sdk</a:t>
            </a:r>
          </a:p>
        </p:txBody>
      </p:sp>
      <p:sp>
        <p:nvSpPr>
          <p:cNvPr id="10" name="TextBox 9"/>
          <p:cNvSpPr txBox="1"/>
          <p:nvPr/>
        </p:nvSpPr>
        <p:spPr>
          <a:xfrm>
            <a:off x="457200" y="5431536"/>
            <a:ext cx="9144000" cy="320040"/>
          </a:xfrm>
          <a:prstGeom prst="rect">
            <a:avLst/>
          </a:prstGeom>
          <a:noFill/>
        </p:spPr>
        <p:txBody>
          <a:bodyPr wrap="square">
            <a:spAutoFit/>
          </a:bodyPr>
          <a:lstStyle/>
          <a:p>
            <a:pPr algn="l"/>
            <a:r>
              <a:rPr sz="1300" b="0" i="0">
                <a:solidFill>
                  <a:srgbClr val="12101A"/>
                </a:solidFill>
              </a:rPr>
              <a:t>REST API → Any language, any platform</a:t>
            </a:r>
          </a:p>
        </p:txBody>
      </p:sp>
      <p:sp>
        <p:nvSpPr>
          <p:cNvPr id="11" name="TextBox 10"/>
          <p:cNvSpPr txBox="1"/>
          <p:nvPr/>
        </p:nvSpPr>
        <p:spPr>
          <a:xfrm>
            <a:off x="457200" y="5897880"/>
            <a:ext cx="11247120" cy="365760"/>
          </a:xfrm>
          <a:prstGeom prst="rect">
            <a:avLst/>
          </a:prstGeom>
          <a:noFill/>
        </p:spPr>
        <p:txBody>
          <a:bodyPr wrap="square">
            <a:spAutoFit/>
          </a:bodyPr>
          <a:lstStyle/>
          <a:p>
            <a:pPr algn="l"/>
            <a:r>
              <a:rPr sz="1400" b="1" i="0">
                <a:solidFill>
                  <a:srgbClr val="5E17EB"/>
                </a:solidFill>
              </a:rPr>
              <a:t>Your side: Connect your Stripe via OAuth. That's it. 2 clicks.</a:t>
            </a:r>
          </a:p>
        </p:txBody>
      </p:sp>
      <p:sp>
        <p:nvSpPr>
          <p:cNvPr id="12" name="TextBox 11"/>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13" name="TextBox 12"/>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
            <a:ext cx="2011680" cy="2743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
            <a:ext cx="1920240" cy="246888"/>
          </a:xfrm>
          <a:prstGeom prst="rect">
            <a:avLst/>
          </a:prstGeom>
          <a:noFill/>
        </p:spPr>
        <p:txBody>
          <a:bodyPr wrap="square">
            <a:spAutoFit/>
          </a:bodyPr>
          <a:lstStyle/>
          <a:p>
            <a:pPr algn="l"/>
            <a:r>
              <a:rPr sz="900" b="1" i="0">
                <a:solidFill>
                  <a:srgbClr val="5E17EB"/>
                </a:solidFill>
              </a:rPr>
              <a:t>VERTICAL: SIM &amp; MOBILE</a:t>
            </a:r>
          </a:p>
        </p:txBody>
      </p:sp>
      <p:sp>
        <p:nvSpPr>
          <p:cNvPr id="6" name="TextBox 5"/>
          <p:cNvSpPr txBox="1"/>
          <p:nvPr/>
        </p:nvSpPr>
        <p:spPr>
          <a:xfrm>
            <a:off x="457200" y="502920"/>
            <a:ext cx="11247120" cy="640080"/>
          </a:xfrm>
          <a:prstGeom prst="rect">
            <a:avLst/>
          </a:prstGeom>
          <a:noFill/>
        </p:spPr>
        <p:txBody>
          <a:bodyPr wrap="square">
            <a:spAutoFit/>
          </a:bodyPr>
          <a:lstStyle/>
          <a:p>
            <a:pPr algn="l"/>
            <a:r>
              <a:rPr sz="3200" b="1" i="0">
                <a:solidFill>
                  <a:srgbClr val="5E17EB"/>
                </a:solidFill>
              </a:rPr>
              <a:t>Why agents will dominate SIM comparison.</a:t>
            </a:r>
          </a:p>
        </p:txBody>
      </p:sp>
      <p:sp>
        <p:nvSpPr>
          <p:cNvPr id="7" name="TextBox 6"/>
          <p:cNvSpPr txBox="1"/>
          <p:nvPr/>
        </p:nvSpPr>
        <p:spPr>
          <a:xfrm>
            <a:off x="457200" y="1280160"/>
            <a:ext cx="2286000" cy="365760"/>
          </a:xfrm>
          <a:prstGeom prst="rect">
            <a:avLst/>
          </a:prstGeom>
          <a:noFill/>
        </p:spPr>
        <p:txBody>
          <a:bodyPr wrap="square">
            <a:spAutoFit/>
          </a:bodyPr>
          <a:lstStyle/>
          <a:p>
            <a:pPr algn="l"/>
            <a:r>
              <a:rPr sz="1400" b="1" i="0">
                <a:solidFill>
                  <a:srgbClr val="5E17EB"/>
                </a:solidFill>
              </a:rPr>
              <a:t>The market:</a:t>
            </a:r>
          </a:p>
        </p:txBody>
      </p:sp>
      <p:sp>
        <p:nvSpPr>
          <p:cNvPr id="8" name="TextBox 7"/>
          <p:cNvSpPr txBox="1"/>
          <p:nvPr/>
        </p:nvSpPr>
        <p:spPr>
          <a:xfrm>
            <a:off x="2743200" y="1280160"/>
            <a:ext cx="9144000" cy="365760"/>
          </a:xfrm>
          <a:prstGeom prst="rect">
            <a:avLst/>
          </a:prstGeom>
          <a:noFill/>
        </p:spPr>
        <p:txBody>
          <a:bodyPr wrap="square">
            <a:spAutoFit/>
          </a:bodyPr>
          <a:lstStyle/>
          <a:p>
            <a:pPr algn="l"/>
            <a:r>
              <a:rPr sz="1400" b="0" i="0">
                <a:solidFill>
                  <a:srgbClr val="12101A"/>
                </a:solidFill>
              </a:rPr>
              <a:t>UK SIM-only plans are commoditised, spec-comparable, and switched frequently. Perfect for agent comparison.</a:t>
            </a:r>
          </a:p>
        </p:txBody>
      </p:sp>
      <p:sp>
        <p:nvSpPr>
          <p:cNvPr id="9" name="TextBox 8"/>
          <p:cNvSpPr txBox="1"/>
          <p:nvPr/>
        </p:nvSpPr>
        <p:spPr>
          <a:xfrm>
            <a:off x="457200" y="1783080"/>
            <a:ext cx="2286000" cy="365760"/>
          </a:xfrm>
          <a:prstGeom prst="rect">
            <a:avLst/>
          </a:prstGeom>
          <a:noFill/>
        </p:spPr>
        <p:txBody>
          <a:bodyPr wrap="square">
            <a:spAutoFit/>
          </a:bodyPr>
          <a:lstStyle/>
          <a:p>
            <a:pPr algn="l"/>
            <a:r>
              <a:rPr sz="1400" b="1" i="0">
                <a:solidFill>
                  <a:srgbClr val="5E17EB"/>
                </a:solidFill>
              </a:rPr>
              <a:t>Commission model:</a:t>
            </a:r>
          </a:p>
        </p:txBody>
      </p:sp>
      <p:sp>
        <p:nvSpPr>
          <p:cNvPr id="10" name="TextBox 9"/>
          <p:cNvSpPr txBox="1"/>
          <p:nvPr/>
        </p:nvSpPr>
        <p:spPr>
          <a:xfrm>
            <a:off x="2743200" y="1783080"/>
            <a:ext cx="9144000" cy="365760"/>
          </a:xfrm>
          <a:prstGeom prst="rect">
            <a:avLst/>
          </a:prstGeom>
          <a:noFill/>
        </p:spPr>
        <p:txBody>
          <a:bodyPr wrap="square">
            <a:spAutoFit/>
          </a:bodyPr>
          <a:lstStyle/>
          <a:p>
            <a:pPr algn="l"/>
            <a:r>
              <a:rPr sz="1400" b="0" i="0">
                <a:solidFill>
                  <a:srgbClr val="12101A"/>
                </a:solidFill>
              </a:rPr>
              <a:t>£5–40 per activation (CPA)</a:t>
            </a:r>
          </a:p>
        </p:txBody>
      </p:sp>
      <p:sp>
        <p:nvSpPr>
          <p:cNvPr id="11" name="TextBox 10"/>
          <p:cNvSpPr txBox="1"/>
          <p:nvPr/>
        </p:nvSpPr>
        <p:spPr>
          <a:xfrm>
            <a:off x="457200" y="2286000"/>
            <a:ext cx="2286000" cy="365760"/>
          </a:xfrm>
          <a:prstGeom prst="rect">
            <a:avLst/>
          </a:prstGeom>
          <a:noFill/>
        </p:spPr>
        <p:txBody>
          <a:bodyPr wrap="square">
            <a:spAutoFit/>
          </a:bodyPr>
          <a:lstStyle/>
          <a:p>
            <a:pPr algn="l"/>
            <a:r>
              <a:rPr sz="1400" b="1" i="0">
                <a:solidFill>
                  <a:srgbClr val="5E17EB"/>
                </a:solidFill>
              </a:rPr>
              <a:t>Already on Rako:</a:t>
            </a:r>
          </a:p>
        </p:txBody>
      </p:sp>
      <p:sp>
        <p:nvSpPr>
          <p:cNvPr id="12" name="TextBox 11"/>
          <p:cNvSpPr txBox="1"/>
          <p:nvPr/>
        </p:nvSpPr>
        <p:spPr>
          <a:xfrm>
            <a:off x="2743200" y="2286000"/>
            <a:ext cx="9144000" cy="365760"/>
          </a:xfrm>
          <a:prstGeom prst="rect">
            <a:avLst/>
          </a:prstGeom>
          <a:noFill/>
        </p:spPr>
        <p:txBody>
          <a:bodyPr wrap="square">
            <a:spAutoFit/>
          </a:bodyPr>
          <a:lstStyle/>
          <a:p>
            <a:pPr algn="l"/>
            <a:r>
              <a:rPr sz="1400" b="0" i="0">
                <a:solidFill>
                  <a:srgbClr val="12101A"/>
                </a:solidFill>
              </a:rPr>
              <a:t>10 SIM deals seeded across SMARTY, giffgaff, VOXI, Three, Lebara</a:t>
            </a:r>
          </a:p>
        </p:txBody>
      </p:sp>
      <p:sp>
        <p:nvSpPr>
          <p:cNvPr id="13" name="TextBox 12"/>
          <p:cNvSpPr txBox="1"/>
          <p:nvPr/>
        </p:nvSpPr>
        <p:spPr>
          <a:xfrm>
            <a:off x="457200" y="2560320"/>
            <a:ext cx="3657600" cy="320040"/>
          </a:xfrm>
          <a:prstGeom prst="rect">
            <a:avLst/>
          </a:prstGeom>
          <a:noFill/>
        </p:spPr>
        <p:txBody>
          <a:bodyPr wrap="square">
            <a:spAutoFit/>
          </a:bodyPr>
          <a:lstStyle/>
          <a:p>
            <a:pPr algn="l"/>
            <a:r>
              <a:rPr sz="1400" b="1" i="0">
                <a:solidFill>
                  <a:srgbClr val="12101A"/>
                </a:solidFill>
              </a:rPr>
              <a:t>Agent query examples:</a:t>
            </a:r>
          </a:p>
        </p:txBody>
      </p:sp>
      <p:sp>
        <p:nvSpPr>
          <p:cNvPr id="14" name="Rectangle 13"/>
          <p:cNvSpPr/>
          <p:nvPr/>
        </p:nvSpPr>
        <p:spPr>
          <a:xfrm>
            <a:off x="457200" y="2926080"/>
            <a:ext cx="10058400" cy="502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71800"/>
            <a:ext cx="9692640" cy="411480"/>
          </a:xfrm>
          <a:prstGeom prst="rect">
            <a:avLst/>
          </a:prstGeom>
          <a:noFill/>
        </p:spPr>
        <p:txBody>
          <a:bodyPr wrap="square">
            <a:spAutoFit/>
          </a:bodyPr>
          <a:lstStyle/>
          <a:p>
            <a:pPr algn="l"/>
            <a:r>
              <a:rPr sz="1400" b="0" i="1">
                <a:solidFill>
                  <a:srgbClr val="12101A"/>
                </a:solidFill>
              </a:rPr>
              <a:t>"Find me the cheapest SIM with 20GB data"</a:t>
            </a:r>
          </a:p>
        </p:txBody>
      </p:sp>
      <p:sp>
        <p:nvSpPr>
          <p:cNvPr id="16" name="Rectangle 15"/>
          <p:cNvSpPr/>
          <p:nvPr/>
        </p:nvSpPr>
        <p:spPr>
          <a:xfrm>
            <a:off x="457200" y="3566160"/>
            <a:ext cx="10058400" cy="502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611880"/>
            <a:ext cx="9692640" cy="411480"/>
          </a:xfrm>
          <a:prstGeom prst="rect">
            <a:avLst/>
          </a:prstGeom>
          <a:noFill/>
        </p:spPr>
        <p:txBody>
          <a:bodyPr wrap="square">
            <a:spAutoFit/>
          </a:bodyPr>
          <a:lstStyle/>
          <a:p>
            <a:pPr algn="l"/>
            <a:r>
              <a:rPr sz="1400" b="0" i="1">
                <a:solidFill>
                  <a:srgbClr val="12101A"/>
                </a:solidFill>
              </a:rPr>
              <a:t>"Which network has the best coverage in Manchester?"</a:t>
            </a:r>
          </a:p>
        </p:txBody>
      </p:sp>
      <p:sp>
        <p:nvSpPr>
          <p:cNvPr id="18" name="Rectangle 17"/>
          <p:cNvSpPr/>
          <p:nvPr/>
        </p:nvSpPr>
        <p:spPr>
          <a:xfrm>
            <a:off x="457200" y="4206240"/>
            <a:ext cx="10058400" cy="502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251960"/>
            <a:ext cx="9692640" cy="411480"/>
          </a:xfrm>
          <a:prstGeom prst="rect">
            <a:avLst/>
          </a:prstGeom>
          <a:noFill/>
        </p:spPr>
        <p:txBody>
          <a:bodyPr wrap="square">
            <a:spAutoFit/>
          </a:bodyPr>
          <a:lstStyle/>
          <a:p>
            <a:pPr algn="l"/>
            <a:r>
              <a:rPr sz="1400" b="0" i="1">
                <a:solidFill>
                  <a:srgbClr val="12101A"/>
                </a:solidFill>
              </a:rPr>
              <a:t>"Compare giffgaff, SMARTY, and VOXI for unlimited data"</a:t>
            </a:r>
          </a:p>
        </p:txBody>
      </p:sp>
      <p:sp>
        <p:nvSpPr>
          <p:cNvPr id="20" name="TextBox 19"/>
          <p:cNvSpPr txBox="1"/>
          <p:nvPr/>
        </p:nvSpPr>
        <p:spPr>
          <a:xfrm>
            <a:off x="457200" y="5303520"/>
            <a:ext cx="11247120" cy="457200"/>
          </a:xfrm>
          <a:prstGeom prst="rect">
            <a:avLst/>
          </a:prstGeom>
          <a:noFill/>
        </p:spPr>
        <p:txBody>
          <a:bodyPr wrap="square">
            <a:spAutoFit/>
          </a:bodyPr>
          <a:lstStyle/>
          <a:p>
            <a:pPr algn="ctr"/>
            <a:r>
              <a:rPr sz="1500" b="1" i="0">
                <a:solidFill>
                  <a:srgbClr val="5E17EB"/>
                </a:solidFill>
              </a:rPr>
              <a:t>Be discoverable in every AI-powered SIM comparison. Lock in founding-tier placement now.</a:t>
            </a:r>
          </a:p>
        </p:txBody>
      </p:sp>
      <p:sp>
        <p:nvSpPr>
          <p:cNvPr id="21" name="TextBox 20"/>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22" name="TextBox 21"/>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
            <a:ext cx="2194560" cy="2743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
            <a:ext cx="2103120" cy="246888"/>
          </a:xfrm>
          <a:prstGeom prst="rect">
            <a:avLst/>
          </a:prstGeom>
          <a:noFill/>
        </p:spPr>
        <p:txBody>
          <a:bodyPr wrap="square">
            <a:spAutoFit/>
          </a:bodyPr>
          <a:lstStyle/>
          <a:p>
            <a:pPr algn="l"/>
            <a:r>
              <a:rPr sz="900" b="1" i="0">
                <a:solidFill>
                  <a:srgbClr val="5E17EB"/>
                </a:solidFill>
              </a:rPr>
              <a:t>VERTICAL: BROADBAND</a:t>
            </a:r>
          </a:p>
        </p:txBody>
      </p:sp>
      <p:sp>
        <p:nvSpPr>
          <p:cNvPr id="6" name="TextBox 5"/>
          <p:cNvSpPr txBox="1"/>
          <p:nvPr/>
        </p:nvSpPr>
        <p:spPr>
          <a:xfrm>
            <a:off x="457200" y="502920"/>
            <a:ext cx="11247120" cy="640080"/>
          </a:xfrm>
          <a:prstGeom prst="rect">
            <a:avLst/>
          </a:prstGeom>
          <a:noFill/>
        </p:spPr>
        <p:txBody>
          <a:bodyPr wrap="square">
            <a:spAutoFit/>
          </a:bodyPr>
          <a:lstStyle/>
          <a:p>
            <a:pPr algn="l"/>
            <a:r>
              <a:rPr sz="3200" b="1" i="0">
                <a:solidFill>
                  <a:srgbClr val="5E17EB"/>
                </a:solidFill>
              </a:rPr>
              <a:t>Broadband switching is going agentic.</a:t>
            </a:r>
          </a:p>
        </p:txBody>
      </p:sp>
      <p:sp>
        <p:nvSpPr>
          <p:cNvPr id="7" name="TextBox 6"/>
          <p:cNvSpPr txBox="1"/>
          <p:nvPr/>
        </p:nvSpPr>
        <p:spPr>
          <a:xfrm>
            <a:off x="457200" y="1280160"/>
            <a:ext cx="2286000" cy="411480"/>
          </a:xfrm>
          <a:prstGeom prst="rect">
            <a:avLst/>
          </a:prstGeom>
          <a:noFill/>
        </p:spPr>
        <p:txBody>
          <a:bodyPr wrap="square">
            <a:spAutoFit/>
          </a:bodyPr>
          <a:lstStyle/>
          <a:p>
            <a:pPr algn="l"/>
            <a:r>
              <a:rPr sz="1400" b="1" i="0">
                <a:solidFill>
                  <a:srgbClr val="5E17EB"/>
                </a:solidFill>
              </a:rPr>
              <a:t>The market:</a:t>
            </a:r>
          </a:p>
        </p:txBody>
      </p:sp>
      <p:sp>
        <p:nvSpPr>
          <p:cNvPr id="8" name="TextBox 7"/>
          <p:cNvSpPr txBox="1"/>
          <p:nvPr/>
        </p:nvSpPr>
        <p:spPr>
          <a:xfrm>
            <a:off x="2743200" y="1280160"/>
            <a:ext cx="9144000" cy="411480"/>
          </a:xfrm>
          <a:prstGeom prst="rect">
            <a:avLst/>
          </a:prstGeom>
          <a:noFill/>
        </p:spPr>
        <p:txBody>
          <a:bodyPr wrap="square">
            <a:spAutoFit/>
          </a:bodyPr>
          <a:lstStyle/>
          <a:p>
            <a:pPr algn="l"/>
            <a:r>
              <a:rPr sz="1400" b="0" i="0">
                <a:solidFill>
                  <a:srgbClr val="12101A"/>
                </a:solidFill>
              </a:rPr>
              <a:t>UK broadband has ~30M households, high switching intent. Agents excel at filtering by speed, price, contract length, serviceability.</a:t>
            </a:r>
          </a:p>
        </p:txBody>
      </p:sp>
      <p:sp>
        <p:nvSpPr>
          <p:cNvPr id="9" name="TextBox 8"/>
          <p:cNvSpPr txBox="1"/>
          <p:nvPr/>
        </p:nvSpPr>
        <p:spPr>
          <a:xfrm>
            <a:off x="457200" y="1828800"/>
            <a:ext cx="2286000" cy="411480"/>
          </a:xfrm>
          <a:prstGeom prst="rect">
            <a:avLst/>
          </a:prstGeom>
          <a:noFill/>
        </p:spPr>
        <p:txBody>
          <a:bodyPr wrap="square">
            <a:spAutoFit/>
          </a:bodyPr>
          <a:lstStyle/>
          <a:p>
            <a:pPr algn="l"/>
            <a:r>
              <a:rPr sz="1400" b="1" i="0">
                <a:solidFill>
                  <a:srgbClr val="5E17EB"/>
                </a:solidFill>
              </a:rPr>
              <a:t>Commission model:</a:t>
            </a:r>
          </a:p>
        </p:txBody>
      </p:sp>
      <p:sp>
        <p:nvSpPr>
          <p:cNvPr id="10" name="TextBox 9"/>
          <p:cNvSpPr txBox="1"/>
          <p:nvPr/>
        </p:nvSpPr>
        <p:spPr>
          <a:xfrm>
            <a:off x="2743200" y="1828800"/>
            <a:ext cx="9144000" cy="411480"/>
          </a:xfrm>
          <a:prstGeom prst="rect">
            <a:avLst/>
          </a:prstGeom>
          <a:noFill/>
        </p:spPr>
        <p:txBody>
          <a:bodyPr wrap="square">
            <a:spAutoFit/>
          </a:bodyPr>
          <a:lstStyle/>
          <a:p>
            <a:pPr algn="l"/>
            <a:r>
              <a:rPr sz="1400" b="0" i="0">
                <a:solidFill>
                  <a:srgbClr val="12101A"/>
                </a:solidFill>
              </a:rPr>
              <a:t>£20–80 per new customer (CPA)</a:t>
            </a:r>
          </a:p>
        </p:txBody>
      </p:sp>
      <p:sp>
        <p:nvSpPr>
          <p:cNvPr id="11" name="TextBox 10"/>
          <p:cNvSpPr txBox="1"/>
          <p:nvPr/>
        </p:nvSpPr>
        <p:spPr>
          <a:xfrm>
            <a:off x="457200" y="2377440"/>
            <a:ext cx="2286000" cy="411480"/>
          </a:xfrm>
          <a:prstGeom prst="rect">
            <a:avLst/>
          </a:prstGeom>
          <a:noFill/>
        </p:spPr>
        <p:txBody>
          <a:bodyPr wrap="square">
            <a:spAutoFit/>
          </a:bodyPr>
          <a:lstStyle/>
          <a:p>
            <a:pPr algn="l"/>
            <a:r>
              <a:rPr sz="1400" b="1" i="0">
                <a:solidFill>
                  <a:srgbClr val="5E17EB"/>
                </a:solidFill>
              </a:rPr>
              <a:t>Target merchants:</a:t>
            </a:r>
          </a:p>
        </p:txBody>
      </p:sp>
      <p:sp>
        <p:nvSpPr>
          <p:cNvPr id="12" name="TextBox 11"/>
          <p:cNvSpPr txBox="1"/>
          <p:nvPr/>
        </p:nvSpPr>
        <p:spPr>
          <a:xfrm>
            <a:off x="2743200" y="2377440"/>
            <a:ext cx="9144000" cy="411480"/>
          </a:xfrm>
          <a:prstGeom prst="rect">
            <a:avLst/>
          </a:prstGeom>
          <a:noFill/>
        </p:spPr>
        <p:txBody>
          <a:bodyPr wrap="square">
            <a:spAutoFit/>
          </a:bodyPr>
          <a:lstStyle/>
          <a:p>
            <a:pPr algn="l"/>
            <a:r>
              <a:rPr sz="1400" b="0" i="0">
                <a:solidFill>
                  <a:srgbClr val="12101A"/>
                </a:solidFill>
              </a:rPr>
              <a:t>Hyperoptic, Cuckoo, Zen, Community Fibre, Plusnet, NOW Broadband</a:t>
            </a:r>
          </a:p>
        </p:txBody>
      </p:sp>
      <p:sp>
        <p:nvSpPr>
          <p:cNvPr id="13" name="TextBox 12"/>
          <p:cNvSpPr txBox="1"/>
          <p:nvPr/>
        </p:nvSpPr>
        <p:spPr>
          <a:xfrm>
            <a:off x="457200" y="2743200"/>
            <a:ext cx="3657600" cy="320040"/>
          </a:xfrm>
          <a:prstGeom prst="rect">
            <a:avLst/>
          </a:prstGeom>
          <a:noFill/>
        </p:spPr>
        <p:txBody>
          <a:bodyPr wrap="square">
            <a:spAutoFit/>
          </a:bodyPr>
          <a:lstStyle/>
          <a:p>
            <a:pPr algn="l"/>
            <a:r>
              <a:rPr sz="1400" b="1" i="0">
                <a:solidFill>
                  <a:srgbClr val="12101A"/>
                </a:solidFill>
              </a:rPr>
              <a:t>Agent query examples:</a:t>
            </a:r>
          </a:p>
        </p:txBody>
      </p:sp>
      <p:sp>
        <p:nvSpPr>
          <p:cNvPr id="14" name="Rectangle 13"/>
          <p:cNvSpPr/>
          <p:nvPr/>
        </p:nvSpPr>
        <p:spPr>
          <a:xfrm>
            <a:off x="457200" y="3154680"/>
            <a:ext cx="10058400" cy="502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200400"/>
            <a:ext cx="9692640" cy="411480"/>
          </a:xfrm>
          <a:prstGeom prst="rect">
            <a:avLst/>
          </a:prstGeom>
          <a:noFill/>
        </p:spPr>
        <p:txBody>
          <a:bodyPr wrap="square">
            <a:spAutoFit/>
          </a:bodyPr>
          <a:lstStyle/>
          <a:p>
            <a:pPr algn="l"/>
            <a:r>
              <a:rPr sz="1400" b="0" i="1">
                <a:solidFill>
                  <a:srgbClr val="12101A"/>
                </a:solidFill>
              </a:rPr>
              <a:t>"What's the fastest broadband I can get at my postcode?"</a:t>
            </a:r>
          </a:p>
        </p:txBody>
      </p:sp>
      <p:sp>
        <p:nvSpPr>
          <p:cNvPr id="16" name="Rectangle 15"/>
          <p:cNvSpPr/>
          <p:nvPr/>
        </p:nvSpPr>
        <p:spPr>
          <a:xfrm>
            <a:off x="457200" y="3749040"/>
            <a:ext cx="10058400" cy="502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794760"/>
            <a:ext cx="9692640" cy="411480"/>
          </a:xfrm>
          <a:prstGeom prst="rect">
            <a:avLst/>
          </a:prstGeom>
          <a:noFill/>
        </p:spPr>
        <p:txBody>
          <a:bodyPr wrap="square">
            <a:spAutoFit/>
          </a:bodyPr>
          <a:lstStyle/>
          <a:p>
            <a:pPr algn="l"/>
            <a:r>
              <a:rPr sz="1400" b="0" i="1">
                <a:solidFill>
                  <a:srgbClr val="12101A"/>
                </a:solidFill>
              </a:rPr>
              <a:t>"Compare full fibre deals under £35/month"</a:t>
            </a:r>
          </a:p>
        </p:txBody>
      </p:sp>
      <p:sp>
        <p:nvSpPr>
          <p:cNvPr id="18" name="Rectangle 17"/>
          <p:cNvSpPr/>
          <p:nvPr/>
        </p:nvSpPr>
        <p:spPr>
          <a:xfrm>
            <a:off x="457200" y="4343400"/>
            <a:ext cx="10058400" cy="502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389120"/>
            <a:ext cx="9692640" cy="411480"/>
          </a:xfrm>
          <a:prstGeom prst="rect">
            <a:avLst/>
          </a:prstGeom>
          <a:noFill/>
        </p:spPr>
        <p:txBody>
          <a:bodyPr wrap="square">
            <a:spAutoFit/>
          </a:bodyPr>
          <a:lstStyle/>
          <a:p>
            <a:pPr algn="l"/>
            <a:r>
              <a:rPr sz="1400" b="0" i="1">
                <a:solidFill>
                  <a:srgbClr val="12101A"/>
                </a:solidFill>
              </a:rPr>
              <a:t>"Which ISP has the best customer service?"</a:t>
            </a:r>
          </a:p>
        </p:txBody>
      </p:sp>
      <p:sp>
        <p:nvSpPr>
          <p:cNvPr id="20" name="TextBox 19"/>
          <p:cNvSpPr txBox="1"/>
          <p:nvPr/>
        </p:nvSpPr>
        <p:spPr>
          <a:xfrm>
            <a:off x="457200" y="5257800"/>
            <a:ext cx="11247120" cy="457200"/>
          </a:xfrm>
          <a:prstGeom prst="rect">
            <a:avLst/>
          </a:prstGeom>
          <a:noFill/>
        </p:spPr>
        <p:txBody>
          <a:bodyPr wrap="square">
            <a:spAutoFit/>
          </a:bodyPr>
          <a:lstStyle/>
          <a:p>
            <a:pPr algn="ctr"/>
            <a:r>
              <a:rPr sz="1400" b="1" i="0">
                <a:solidFill>
                  <a:srgbClr val="5E17EB"/>
                </a:solidFill>
              </a:rPr>
              <a:t>Comparison sites take 20–40% CPA. Rako offers verified attribution at your existing affiliate rate.</a:t>
            </a:r>
          </a:p>
        </p:txBody>
      </p:sp>
      <p:sp>
        <p:nvSpPr>
          <p:cNvPr id="21" name="TextBox 20"/>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22" name="TextBox 21"/>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
            <a:ext cx="1828800" cy="2743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
            <a:ext cx="1737360" cy="246888"/>
          </a:xfrm>
          <a:prstGeom prst="rect">
            <a:avLst/>
          </a:prstGeom>
          <a:noFill/>
        </p:spPr>
        <p:txBody>
          <a:bodyPr wrap="square">
            <a:spAutoFit/>
          </a:bodyPr>
          <a:lstStyle/>
          <a:p>
            <a:pPr algn="l"/>
            <a:r>
              <a:rPr sz="900" b="1" i="0">
                <a:solidFill>
                  <a:srgbClr val="5E17EB"/>
                </a:solidFill>
              </a:rPr>
              <a:t>VERTICAL: ENERGY</a:t>
            </a:r>
          </a:p>
        </p:txBody>
      </p:sp>
      <p:sp>
        <p:nvSpPr>
          <p:cNvPr id="6" name="TextBox 5"/>
          <p:cNvSpPr txBox="1"/>
          <p:nvPr/>
        </p:nvSpPr>
        <p:spPr>
          <a:xfrm>
            <a:off x="457200" y="502920"/>
            <a:ext cx="11247120" cy="640080"/>
          </a:xfrm>
          <a:prstGeom prst="rect">
            <a:avLst/>
          </a:prstGeom>
          <a:noFill/>
        </p:spPr>
        <p:txBody>
          <a:bodyPr wrap="square">
            <a:spAutoFit/>
          </a:bodyPr>
          <a:lstStyle/>
          <a:p>
            <a:pPr algn="l"/>
            <a:r>
              <a:rPr sz="3200" b="1" i="0">
                <a:solidFill>
                  <a:srgbClr val="5E17EB"/>
                </a:solidFill>
              </a:rPr>
              <a:t>Every energy switch will start with an agent.</a:t>
            </a:r>
          </a:p>
        </p:txBody>
      </p:sp>
      <p:sp>
        <p:nvSpPr>
          <p:cNvPr id="7" name="TextBox 6"/>
          <p:cNvSpPr txBox="1"/>
          <p:nvPr/>
        </p:nvSpPr>
        <p:spPr>
          <a:xfrm>
            <a:off x="457200" y="1280160"/>
            <a:ext cx="2286000" cy="411480"/>
          </a:xfrm>
          <a:prstGeom prst="rect">
            <a:avLst/>
          </a:prstGeom>
          <a:noFill/>
        </p:spPr>
        <p:txBody>
          <a:bodyPr wrap="square">
            <a:spAutoFit/>
          </a:bodyPr>
          <a:lstStyle/>
          <a:p>
            <a:pPr algn="l"/>
            <a:r>
              <a:rPr sz="1400" b="1" i="0">
                <a:solidFill>
                  <a:srgbClr val="5E17EB"/>
                </a:solidFill>
              </a:rPr>
              <a:t>The market:</a:t>
            </a:r>
          </a:p>
        </p:txBody>
      </p:sp>
      <p:sp>
        <p:nvSpPr>
          <p:cNvPr id="8" name="TextBox 7"/>
          <p:cNvSpPr txBox="1"/>
          <p:nvPr/>
        </p:nvSpPr>
        <p:spPr>
          <a:xfrm>
            <a:off x="2743200" y="1280160"/>
            <a:ext cx="9144000" cy="411480"/>
          </a:xfrm>
          <a:prstGeom prst="rect">
            <a:avLst/>
          </a:prstGeom>
          <a:noFill/>
        </p:spPr>
        <p:txBody>
          <a:bodyPr wrap="square">
            <a:spAutoFit/>
          </a:bodyPr>
          <a:lstStyle/>
          <a:p>
            <a:pPr algn="l"/>
            <a:r>
              <a:rPr sz="1400" b="0" i="0">
                <a:solidFill>
                  <a:srgbClr val="12101A"/>
                </a:solidFill>
              </a:rPr>
              <a:t>UK energy has ~28M households. Switching driven by price comparison. Agents factor in tariff rates, standing charges, smart meter compatibility, green credentials.</a:t>
            </a:r>
          </a:p>
        </p:txBody>
      </p:sp>
      <p:sp>
        <p:nvSpPr>
          <p:cNvPr id="9" name="TextBox 8"/>
          <p:cNvSpPr txBox="1"/>
          <p:nvPr/>
        </p:nvSpPr>
        <p:spPr>
          <a:xfrm>
            <a:off x="457200" y="1874520"/>
            <a:ext cx="2286000" cy="411480"/>
          </a:xfrm>
          <a:prstGeom prst="rect">
            <a:avLst/>
          </a:prstGeom>
          <a:noFill/>
        </p:spPr>
        <p:txBody>
          <a:bodyPr wrap="square">
            <a:spAutoFit/>
          </a:bodyPr>
          <a:lstStyle/>
          <a:p>
            <a:pPr algn="l"/>
            <a:r>
              <a:rPr sz="1400" b="1" i="0">
                <a:solidFill>
                  <a:srgbClr val="5E17EB"/>
                </a:solidFill>
              </a:rPr>
              <a:t>Commission model:</a:t>
            </a:r>
          </a:p>
        </p:txBody>
      </p:sp>
      <p:sp>
        <p:nvSpPr>
          <p:cNvPr id="10" name="TextBox 9"/>
          <p:cNvSpPr txBox="1"/>
          <p:nvPr/>
        </p:nvSpPr>
        <p:spPr>
          <a:xfrm>
            <a:off x="2743200" y="1874520"/>
            <a:ext cx="9144000" cy="411480"/>
          </a:xfrm>
          <a:prstGeom prst="rect">
            <a:avLst/>
          </a:prstGeom>
          <a:noFill/>
        </p:spPr>
        <p:txBody>
          <a:bodyPr wrap="square">
            <a:spAutoFit/>
          </a:bodyPr>
          <a:lstStyle/>
          <a:p>
            <a:pPr algn="l"/>
            <a:r>
              <a:rPr sz="1400" b="0" i="0">
                <a:solidFill>
                  <a:srgbClr val="12101A"/>
                </a:solidFill>
              </a:rPr>
              <a:t>£25–65 per switch (CPA)</a:t>
            </a:r>
          </a:p>
        </p:txBody>
      </p:sp>
      <p:sp>
        <p:nvSpPr>
          <p:cNvPr id="11" name="TextBox 10"/>
          <p:cNvSpPr txBox="1"/>
          <p:nvPr/>
        </p:nvSpPr>
        <p:spPr>
          <a:xfrm>
            <a:off x="457200" y="2468880"/>
            <a:ext cx="2286000" cy="411480"/>
          </a:xfrm>
          <a:prstGeom prst="rect">
            <a:avLst/>
          </a:prstGeom>
          <a:noFill/>
        </p:spPr>
        <p:txBody>
          <a:bodyPr wrap="square">
            <a:spAutoFit/>
          </a:bodyPr>
          <a:lstStyle/>
          <a:p>
            <a:pPr algn="l"/>
            <a:r>
              <a:rPr sz="1400" b="1" i="0">
                <a:solidFill>
                  <a:srgbClr val="5E17EB"/>
                </a:solidFill>
              </a:rPr>
              <a:t>Target merchants:</a:t>
            </a:r>
          </a:p>
        </p:txBody>
      </p:sp>
      <p:sp>
        <p:nvSpPr>
          <p:cNvPr id="12" name="TextBox 11"/>
          <p:cNvSpPr txBox="1"/>
          <p:nvPr/>
        </p:nvSpPr>
        <p:spPr>
          <a:xfrm>
            <a:off x="2743200" y="2468880"/>
            <a:ext cx="9144000" cy="411480"/>
          </a:xfrm>
          <a:prstGeom prst="rect">
            <a:avLst/>
          </a:prstGeom>
          <a:noFill/>
        </p:spPr>
        <p:txBody>
          <a:bodyPr wrap="square">
            <a:spAutoFit/>
          </a:bodyPr>
          <a:lstStyle/>
          <a:p>
            <a:pPr algn="l"/>
            <a:r>
              <a:rPr sz="1400" b="0" i="0">
                <a:solidFill>
                  <a:srgbClr val="12101A"/>
                </a:solidFill>
              </a:rPr>
              <a:t>Octopus Energy, OVO, E.ON Next, So Energy, Utility Warehouse</a:t>
            </a:r>
          </a:p>
        </p:txBody>
      </p:sp>
      <p:sp>
        <p:nvSpPr>
          <p:cNvPr id="13" name="TextBox 12"/>
          <p:cNvSpPr txBox="1"/>
          <p:nvPr/>
        </p:nvSpPr>
        <p:spPr>
          <a:xfrm>
            <a:off x="457200" y="2926080"/>
            <a:ext cx="3657600" cy="320040"/>
          </a:xfrm>
          <a:prstGeom prst="rect">
            <a:avLst/>
          </a:prstGeom>
          <a:noFill/>
        </p:spPr>
        <p:txBody>
          <a:bodyPr wrap="square">
            <a:spAutoFit/>
          </a:bodyPr>
          <a:lstStyle/>
          <a:p>
            <a:pPr algn="l"/>
            <a:r>
              <a:rPr sz="1400" b="1" i="0">
                <a:solidFill>
                  <a:srgbClr val="12101A"/>
                </a:solidFill>
              </a:rPr>
              <a:t>Agent query examples:</a:t>
            </a:r>
          </a:p>
        </p:txBody>
      </p:sp>
      <p:sp>
        <p:nvSpPr>
          <p:cNvPr id="14" name="Rectangle 13"/>
          <p:cNvSpPr/>
          <p:nvPr/>
        </p:nvSpPr>
        <p:spPr>
          <a:xfrm>
            <a:off x="457200" y="3337560"/>
            <a:ext cx="10058400" cy="502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83280"/>
            <a:ext cx="9692640" cy="411480"/>
          </a:xfrm>
          <a:prstGeom prst="rect">
            <a:avLst/>
          </a:prstGeom>
          <a:noFill/>
        </p:spPr>
        <p:txBody>
          <a:bodyPr wrap="square">
            <a:spAutoFit/>
          </a:bodyPr>
          <a:lstStyle/>
          <a:p>
            <a:pPr algn="l"/>
            <a:r>
              <a:rPr sz="1400" b="0" i="1">
                <a:solidFill>
                  <a:srgbClr val="12101A"/>
                </a:solidFill>
              </a:rPr>
              <a:t>"Which energy supplier is cheapest for a 3-bed house?"</a:t>
            </a:r>
          </a:p>
        </p:txBody>
      </p:sp>
      <p:sp>
        <p:nvSpPr>
          <p:cNvPr id="16" name="Rectangle 15"/>
          <p:cNvSpPr/>
          <p:nvPr/>
        </p:nvSpPr>
        <p:spPr>
          <a:xfrm>
            <a:off x="457200" y="3931920"/>
            <a:ext cx="10058400" cy="502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977640"/>
            <a:ext cx="9692640" cy="411480"/>
          </a:xfrm>
          <a:prstGeom prst="rect">
            <a:avLst/>
          </a:prstGeom>
          <a:noFill/>
        </p:spPr>
        <p:txBody>
          <a:bodyPr wrap="square">
            <a:spAutoFit/>
          </a:bodyPr>
          <a:lstStyle/>
          <a:p>
            <a:pPr algn="l"/>
            <a:r>
              <a:rPr sz="1400" b="0" i="1">
                <a:solidFill>
                  <a:srgbClr val="12101A"/>
                </a:solidFill>
              </a:rPr>
              <a:t>"Compare Octopus vs OVO vs E.ON for green energy"</a:t>
            </a:r>
          </a:p>
        </p:txBody>
      </p:sp>
      <p:sp>
        <p:nvSpPr>
          <p:cNvPr id="18" name="Rectangle 17"/>
          <p:cNvSpPr/>
          <p:nvPr/>
        </p:nvSpPr>
        <p:spPr>
          <a:xfrm>
            <a:off x="457200" y="4526280"/>
            <a:ext cx="10058400" cy="502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572000"/>
            <a:ext cx="9692640" cy="411480"/>
          </a:xfrm>
          <a:prstGeom prst="rect">
            <a:avLst/>
          </a:prstGeom>
          <a:noFill/>
        </p:spPr>
        <p:txBody>
          <a:bodyPr wrap="square">
            <a:spAutoFit/>
          </a:bodyPr>
          <a:lstStyle/>
          <a:p>
            <a:pPr algn="l"/>
            <a:r>
              <a:rPr sz="1400" b="0" i="1">
                <a:solidFill>
                  <a:srgbClr val="12101A"/>
                </a:solidFill>
              </a:rPr>
              <a:t>"When should I switch my fixed tariff?"</a:t>
            </a:r>
          </a:p>
        </p:txBody>
      </p:sp>
      <p:sp>
        <p:nvSpPr>
          <p:cNvPr id="20" name="TextBox 19"/>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21" name="TextBox 20"/>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
            <a:ext cx="2011680" cy="2743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
            <a:ext cx="1920240" cy="246888"/>
          </a:xfrm>
          <a:prstGeom prst="rect">
            <a:avLst/>
          </a:prstGeom>
          <a:noFill/>
        </p:spPr>
        <p:txBody>
          <a:bodyPr wrap="square">
            <a:spAutoFit/>
          </a:bodyPr>
          <a:lstStyle/>
          <a:p>
            <a:pPr algn="l"/>
            <a:r>
              <a:rPr sz="900" b="1" i="0">
                <a:solidFill>
                  <a:srgbClr val="5E17EB"/>
                </a:solidFill>
              </a:rPr>
              <a:t>VERTICAL: INSURANCE</a:t>
            </a:r>
          </a:p>
        </p:txBody>
      </p:sp>
      <p:sp>
        <p:nvSpPr>
          <p:cNvPr id="6" name="TextBox 5"/>
          <p:cNvSpPr txBox="1"/>
          <p:nvPr/>
        </p:nvSpPr>
        <p:spPr>
          <a:xfrm>
            <a:off x="457200" y="502920"/>
            <a:ext cx="11247120" cy="640080"/>
          </a:xfrm>
          <a:prstGeom prst="rect">
            <a:avLst/>
          </a:prstGeom>
          <a:noFill/>
        </p:spPr>
        <p:txBody>
          <a:bodyPr wrap="square">
            <a:spAutoFit/>
          </a:bodyPr>
          <a:lstStyle/>
          <a:p>
            <a:pPr algn="l"/>
            <a:r>
              <a:rPr sz="3200" b="1" i="0">
                <a:solidFill>
                  <a:srgbClr val="5E17EB"/>
                </a:solidFill>
              </a:rPr>
              <a:t>The comparison market is ripe for disruption.</a:t>
            </a:r>
          </a:p>
        </p:txBody>
      </p:sp>
      <p:sp>
        <p:nvSpPr>
          <p:cNvPr id="7" name="TextBox 6"/>
          <p:cNvSpPr txBox="1"/>
          <p:nvPr/>
        </p:nvSpPr>
        <p:spPr>
          <a:xfrm>
            <a:off x="457200" y="1280160"/>
            <a:ext cx="2286000" cy="411480"/>
          </a:xfrm>
          <a:prstGeom prst="rect">
            <a:avLst/>
          </a:prstGeom>
          <a:noFill/>
        </p:spPr>
        <p:txBody>
          <a:bodyPr wrap="square">
            <a:spAutoFit/>
          </a:bodyPr>
          <a:lstStyle/>
          <a:p>
            <a:pPr algn="l"/>
            <a:r>
              <a:rPr sz="1400" b="1" i="0">
                <a:solidFill>
                  <a:srgbClr val="5E17EB"/>
                </a:solidFill>
              </a:rPr>
              <a:t>The market:</a:t>
            </a:r>
          </a:p>
        </p:txBody>
      </p:sp>
      <p:sp>
        <p:nvSpPr>
          <p:cNvPr id="8" name="TextBox 7"/>
          <p:cNvSpPr txBox="1"/>
          <p:nvPr/>
        </p:nvSpPr>
        <p:spPr>
          <a:xfrm>
            <a:off x="2743200" y="1280160"/>
            <a:ext cx="9144000" cy="411480"/>
          </a:xfrm>
          <a:prstGeom prst="rect">
            <a:avLst/>
          </a:prstGeom>
          <a:noFill/>
        </p:spPr>
        <p:txBody>
          <a:bodyPr wrap="square">
            <a:spAutoFit/>
          </a:bodyPr>
          <a:lstStyle/>
          <a:p>
            <a:pPr algn="l"/>
            <a:r>
              <a:rPr sz="1400" b="0" i="0">
                <a:solidFill>
                  <a:srgbClr val="12101A"/>
                </a:solidFill>
              </a:rPr>
              <a:t>UK insurance (motor, home, travel, pet) dominated by comparison sites. Agents can handle complex quoting natively.</a:t>
            </a:r>
          </a:p>
        </p:txBody>
      </p:sp>
      <p:sp>
        <p:nvSpPr>
          <p:cNvPr id="9" name="TextBox 8"/>
          <p:cNvSpPr txBox="1"/>
          <p:nvPr/>
        </p:nvSpPr>
        <p:spPr>
          <a:xfrm>
            <a:off x="457200" y="1874520"/>
            <a:ext cx="2286000" cy="411480"/>
          </a:xfrm>
          <a:prstGeom prst="rect">
            <a:avLst/>
          </a:prstGeom>
          <a:noFill/>
        </p:spPr>
        <p:txBody>
          <a:bodyPr wrap="square">
            <a:spAutoFit/>
          </a:bodyPr>
          <a:lstStyle/>
          <a:p>
            <a:pPr algn="l"/>
            <a:r>
              <a:rPr sz="1400" b="1" i="0">
                <a:solidFill>
                  <a:srgbClr val="5E17EB"/>
                </a:solidFill>
              </a:rPr>
              <a:t>Commission model:</a:t>
            </a:r>
          </a:p>
        </p:txBody>
      </p:sp>
      <p:sp>
        <p:nvSpPr>
          <p:cNvPr id="10" name="TextBox 9"/>
          <p:cNvSpPr txBox="1"/>
          <p:nvPr/>
        </p:nvSpPr>
        <p:spPr>
          <a:xfrm>
            <a:off x="2743200" y="1874520"/>
            <a:ext cx="9144000" cy="411480"/>
          </a:xfrm>
          <a:prstGeom prst="rect">
            <a:avLst/>
          </a:prstGeom>
          <a:noFill/>
        </p:spPr>
        <p:txBody>
          <a:bodyPr wrap="square">
            <a:spAutoFit/>
          </a:bodyPr>
          <a:lstStyle/>
          <a:p>
            <a:pPr algn="l"/>
            <a:r>
              <a:rPr sz="1400" b="0" i="0">
                <a:solidFill>
                  <a:srgbClr val="12101A"/>
                </a:solidFill>
              </a:rPr>
              <a:t>£50–100 per policy (CPA)</a:t>
            </a:r>
          </a:p>
        </p:txBody>
      </p:sp>
      <p:sp>
        <p:nvSpPr>
          <p:cNvPr id="11" name="TextBox 10"/>
          <p:cNvSpPr txBox="1"/>
          <p:nvPr/>
        </p:nvSpPr>
        <p:spPr>
          <a:xfrm>
            <a:off x="457200" y="2468880"/>
            <a:ext cx="2286000" cy="411480"/>
          </a:xfrm>
          <a:prstGeom prst="rect">
            <a:avLst/>
          </a:prstGeom>
          <a:noFill/>
        </p:spPr>
        <p:txBody>
          <a:bodyPr wrap="square">
            <a:spAutoFit/>
          </a:bodyPr>
          <a:lstStyle/>
          <a:p>
            <a:pPr algn="l"/>
            <a:r>
              <a:rPr sz="1400" b="1" i="0">
                <a:solidFill>
                  <a:srgbClr val="5E17EB"/>
                </a:solidFill>
              </a:rPr>
              <a:t>Target merchants:</a:t>
            </a:r>
          </a:p>
        </p:txBody>
      </p:sp>
      <p:sp>
        <p:nvSpPr>
          <p:cNvPr id="12" name="TextBox 11"/>
          <p:cNvSpPr txBox="1"/>
          <p:nvPr/>
        </p:nvSpPr>
        <p:spPr>
          <a:xfrm>
            <a:off x="2743200" y="2468880"/>
            <a:ext cx="9144000" cy="411480"/>
          </a:xfrm>
          <a:prstGeom prst="rect">
            <a:avLst/>
          </a:prstGeom>
          <a:noFill/>
        </p:spPr>
        <p:txBody>
          <a:bodyPr wrap="square">
            <a:spAutoFit/>
          </a:bodyPr>
          <a:lstStyle/>
          <a:p>
            <a:pPr algn="l"/>
            <a:r>
              <a:rPr sz="1400" b="0" i="0">
                <a:solidFill>
                  <a:srgbClr val="12101A"/>
                </a:solidFill>
              </a:rPr>
              <a:t>Direct Line, Admiral, LV=, Aviva (direct), Hiscox</a:t>
            </a:r>
          </a:p>
        </p:txBody>
      </p:sp>
      <p:sp>
        <p:nvSpPr>
          <p:cNvPr id="13" name="TextBox 12"/>
          <p:cNvSpPr txBox="1"/>
          <p:nvPr/>
        </p:nvSpPr>
        <p:spPr>
          <a:xfrm>
            <a:off x="457200" y="3063240"/>
            <a:ext cx="2286000" cy="411480"/>
          </a:xfrm>
          <a:prstGeom prst="rect">
            <a:avLst/>
          </a:prstGeom>
          <a:noFill/>
        </p:spPr>
        <p:txBody>
          <a:bodyPr wrap="square">
            <a:spAutoFit/>
          </a:bodyPr>
          <a:lstStyle/>
          <a:p>
            <a:pPr algn="l"/>
            <a:r>
              <a:rPr sz="1400" b="1" i="0">
                <a:solidFill>
                  <a:srgbClr val="5E17EB"/>
                </a:solidFill>
              </a:rPr>
              <a:t>FCA note:</a:t>
            </a:r>
          </a:p>
        </p:txBody>
      </p:sp>
      <p:sp>
        <p:nvSpPr>
          <p:cNvPr id="14" name="TextBox 13"/>
          <p:cNvSpPr txBox="1"/>
          <p:nvPr/>
        </p:nvSpPr>
        <p:spPr>
          <a:xfrm>
            <a:off x="2743200" y="3063240"/>
            <a:ext cx="9144000" cy="411480"/>
          </a:xfrm>
          <a:prstGeom prst="rect">
            <a:avLst/>
          </a:prstGeom>
          <a:noFill/>
        </p:spPr>
        <p:txBody>
          <a:bodyPr wrap="square">
            <a:spAutoFit/>
          </a:bodyPr>
          <a:lstStyle/>
          <a:p>
            <a:pPr algn="l"/>
            <a:r>
              <a:rPr sz="1400" b="0" i="0">
                <a:solidFill>
                  <a:srgbClr val="12101A"/>
                </a:solidFill>
              </a:rPr>
              <a:t>Rako positions as technology platform, not intermediary. Legal memo available on request.</a:t>
            </a:r>
          </a:p>
        </p:txBody>
      </p:sp>
      <p:sp>
        <p:nvSpPr>
          <p:cNvPr id="15" name="TextBox 14"/>
          <p:cNvSpPr txBox="1"/>
          <p:nvPr/>
        </p:nvSpPr>
        <p:spPr>
          <a:xfrm>
            <a:off x="457200" y="3749039"/>
            <a:ext cx="3657600" cy="320040"/>
          </a:xfrm>
          <a:prstGeom prst="rect">
            <a:avLst/>
          </a:prstGeom>
          <a:noFill/>
        </p:spPr>
        <p:txBody>
          <a:bodyPr wrap="square">
            <a:spAutoFit/>
          </a:bodyPr>
          <a:lstStyle/>
          <a:p>
            <a:pPr algn="l"/>
            <a:r>
              <a:rPr sz="1400" b="1" i="0">
                <a:solidFill>
                  <a:srgbClr val="12101A"/>
                </a:solidFill>
              </a:rPr>
              <a:t>Agent query examples:</a:t>
            </a:r>
          </a:p>
        </p:txBody>
      </p:sp>
      <p:sp>
        <p:nvSpPr>
          <p:cNvPr id="16" name="Rectangle 15"/>
          <p:cNvSpPr/>
          <p:nvPr/>
        </p:nvSpPr>
        <p:spPr>
          <a:xfrm>
            <a:off x="457200" y="4160520"/>
            <a:ext cx="10058400" cy="45720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206240"/>
            <a:ext cx="9692640" cy="365760"/>
          </a:xfrm>
          <a:prstGeom prst="rect">
            <a:avLst/>
          </a:prstGeom>
          <a:noFill/>
        </p:spPr>
        <p:txBody>
          <a:bodyPr wrap="square">
            <a:spAutoFit/>
          </a:bodyPr>
          <a:lstStyle/>
          <a:p>
            <a:pPr algn="l"/>
            <a:r>
              <a:rPr sz="1300" b="0" i="1">
                <a:solidFill>
                  <a:srgbClr val="12101A"/>
                </a:solidFill>
              </a:rPr>
              <a:t>"Find me the cheapest car insurance for a 25-year-old in London"</a:t>
            </a:r>
          </a:p>
        </p:txBody>
      </p:sp>
      <p:sp>
        <p:nvSpPr>
          <p:cNvPr id="18" name="Rectangle 17"/>
          <p:cNvSpPr/>
          <p:nvPr/>
        </p:nvSpPr>
        <p:spPr>
          <a:xfrm>
            <a:off x="457200" y="4709159"/>
            <a:ext cx="10058400" cy="45720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754879"/>
            <a:ext cx="9692640" cy="365760"/>
          </a:xfrm>
          <a:prstGeom prst="rect">
            <a:avLst/>
          </a:prstGeom>
          <a:noFill/>
        </p:spPr>
        <p:txBody>
          <a:bodyPr wrap="square">
            <a:spAutoFit/>
          </a:bodyPr>
          <a:lstStyle/>
          <a:p>
            <a:pPr algn="l"/>
            <a:r>
              <a:rPr sz="1300" b="0" i="1">
                <a:solidFill>
                  <a:srgbClr val="12101A"/>
                </a:solidFill>
              </a:rPr>
              <a:t>"Compare home insurance with accidental damage cover"</a:t>
            </a:r>
          </a:p>
        </p:txBody>
      </p:sp>
      <p:sp>
        <p:nvSpPr>
          <p:cNvPr id="20" name="Rectangle 19"/>
          <p:cNvSpPr/>
          <p:nvPr/>
        </p:nvSpPr>
        <p:spPr>
          <a:xfrm>
            <a:off x="457200" y="5257800"/>
            <a:ext cx="10058400" cy="45720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303520"/>
            <a:ext cx="9692640" cy="365760"/>
          </a:xfrm>
          <a:prstGeom prst="rect">
            <a:avLst/>
          </a:prstGeom>
          <a:noFill/>
        </p:spPr>
        <p:txBody>
          <a:bodyPr wrap="square">
            <a:spAutoFit/>
          </a:bodyPr>
          <a:lstStyle/>
          <a:p>
            <a:pPr algn="l"/>
            <a:r>
              <a:rPr sz="1300" b="0" i="1">
                <a:solidFill>
                  <a:srgbClr val="12101A"/>
                </a:solidFill>
              </a:rPr>
              <a:t>"What's the best travel insurance for a family of four?"</a:t>
            </a:r>
          </a:p>
        </p:txBody>
      </p:sp>
      <p:sp>
        <p:nvSpPr>
          <p:cNvPr id="22" name="TextBox 21"/>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23" name="TextBox 22"/>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37160"/>
            <a:ext cx="2286000" cy="2743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55448"/>
            <a:ext cx="2194560" cy="246888"/>
          </a:xfrm>
          <a:prstGeom prst="rect">
            <a:avLst/>
          </a:prstGeom>
          <a:noFill/>
        </p:spPr>
        <p:txBody>
          <a:bodyPr wrap="square">
            <a:spAutoFit/>
          </a:bodyPr>
          <a:lstStyle/>
          <a:p>
            <a:pPr algn="l"/>
            <a:r>
              <a:rPr sz="900" b="1" i="0">
                <a:solidFill>
                  <a:srgbClr val="5E17EB"/>
                </a:solidFill>
              </a:rPr>
              <a:t>VERTICAL: TRAVEL &amp; HOTELS</a:t>
            </a:r>
          </a:p>
        </p:txBody>
      </p:sp>
      <p:sp>
        <p:nvSpPr>
          <p:cNvPr id="6" name="TextBox 5"/>
          <p:cNvSpPr txBox="1"/>
          <p:nvPr/>
        </p:nvSpPr>
        <p:spPr>
          <a:xfrm>
            <a:off x="457200" y="502920"/>
            <a:ext cx="11247120" cy="640080"/>
          </a:xfrm>
          <a:prstGeom prst="rect">
            <a:avLst/>
          </a:prstGeom>
          <a:noFill/>
        </p:spPr>
        <p:txBody>
          <a:bodyPr wrap="square">
            <a:spAutoFit/>
          </a:bodyPr>
          <a:lstStyle/>
          <a:p>
            <a:pPr algn="l"/>
            <a:r>
              <a:rPr sz="3200" b="1" i="0">
                <a:solidFill>
                  <a:srgbClr val="5E17EB"/>
                </a:solidFill>
              </a:rPr>
              <a:t>Direct bookings, not aggregator crumbs.</a:t>
            </a:r>
          </a:p>
        </p:txBody>
      </p:sp>
      <p:sp>
        <p:nvSpPr>
          <p:cNvPr id="7" name="TextBox 6"/>
          <p:cNvSpPr txBox="1"/>
          <p:nvPr/>
        </p:nvSpPr>
        <p:spPr>
          <a:xfrm>
            <a:off x="457200" y="1280160"/>
            <a:ext cx="2286000" cy="411480"/>
          </a:xfrm>
          <a:prstGeom prst="rect">
            <a:avLst/>
          </a:prstGeom>
          <a:noFill/>
        </p:spPr>
        <p:txBody>
          <a:bodyPr wrap="square">
            <a:spAutoFit/>
          </a:bodyPr>
          <a:lstStyle/>
          <a:p>
            <a:pPr algn="l"/>
            <a:r>
              <a:rPr sz="1400" b="1" i="0">
                <a:solidFill>
                  <a:srgbClr val="5E17EB"/>
                </a:solidFill>
              </a:rPr>
              <a:t>The market:</a:t>
            </a:r>
          </a:p>
        </p:txBody>
      </p:sp>
      <p:sp>
        <p:nvSpPr>
          <p:cNvPr id="8" name="TextBox 7"/>
          <p:cNvSpPr txBox="1"/>
          <p:nvPr/>
        </p:nvSpPr>
        <p:spPr>
          <a:xfrm>
            <a:off x="2743200" y="1280160"/>
            <a:ext cx="9144000" cy="411480"/>
          </a:xfrm>
          <a:prstGeom prst="rect">
            <a:avLst/>
          </a:prstGeom>
          <a:noFill/>
        </p:spPr>
        <p:txBody>
          <a:bodyPr wrap="square">
            <a:spAutoFit/>
          </a:bodyPr>
          <a:lstStyle/>
          <a:p>
            <a:pPr algn="l"/>
            <a:r>
              <a:rPr sz="1400" b="0" i="0">
                <a:solidFill>
                  <a:srgbClr val="12101A"/>
                </a:solidFill>
              </a:rPr>
              <a:t>UK travel is heavily intermediated. Agents can bypass aggregators and book direct — better rates for consumers, higher margin for merchants.</a:t>
            </a:r>
          </a:p>
        </p:txBody>
      </p:sp>
      <p:sp>
        <p:nvSpPr>
          <p:cNvPr id="9" name="TextBox 8"/>
          <p:cNvSpPr txBox="1"/>
          <p:nvPr/>
        </p:nvSpPr>
        <p:spPr>
          <a:xfrm>
            <a:off x="457200" y="1874520"/>
            <a:ext cx="2286000" cy="411480"/>
          </a:xfrm>
          <a:prstGeom prst="rect">
            <a:avLst/>
          </a:prstGeom>
          <a:noFill/>
        </p:spPr>
        <p:txBody>
          <a:bodyPr wrap="square">
            <a:spAutoFit/>
          </a:bodyPr>
          <a:lstStyle/>
          <a:p>
            <a:pPr algn="l"/>
            <a:r>
              <a:rPr sz="1400" b="1" i="0">
                <a:solidFill>
                  <a:srgbClr val="5E17EB"/>
                </a:solidFill>
              </a:rPr>
              <a:t>Commission model:</a:t>
            </a:r>
          </a:p>
        </p:txBody>
      </p:sp>
      <p:sp>
        <p:nvSpPr>
          <p:cNvPr id="10" name="TextBox 9"/>
          <p:cNvSpPr txBox="1"/>
          <p:nvPr/>
        </p:nvSpPr>
        <p:spPr>
          <a:xfrm>
            <a:off x="2743200" y="1874520"/>
            <a:ext cx="9144000" cy="411480"/>
          </a:xfrm>
          <a:prstGeom prst="rect">
            <a:avLst/>
          </a:prstGeom>
          <a:noFill/>
        </p:spPr>
        <p:txBody>
          <a:bodyPr wrap="square">
            <a:spAutoFit/>
          </a:bodyPr>
          <a:lstStyle/>
          <a:p>
            <a:pPr algn="l"/>
            <a:r>
              <a:rPr sz="1400" b="0" i="0">
                <a:solidFill>
                  <a:srgbClr val="12101A"/>
                </a:solidFill>
              </a:rPr>
              <a:t>3–15% of booking value</a:t>
            </a:r>
          </a:p>
        </p:txBody>
      </p:sp>
      <p:sp>
        <p:nvSpPr>
          <p:cNvPr id="11" name="TextBox 10"/>
          <p:cNvSpPr txBox="1"/>
          <p:nvPr/>
        </p:nvSpPr>
        <p:spPr>
          <a:xfrm>
            <a:off x="457200" y="2468880"/>
            <a:ext cx="2286000" cy="411480"/>
          </a:xfrm>
          <a:prstGeom prst="rect">
            <a:avLst/>
          </a:prstGeom>
          <a:noFill/>
        </p:spPr>
        <p:txBody>
          <a:bodyPr wrap="square">
            <a:spAutoFit/>
          </a:bodyPr>
          <a:lstStyle/>
          <a:p>
            <a:pPr algn="l"/>
            <a:r>
              <a:rPr sz="1400" b="1" i="0">
                <a:solidFill>
                  <a:srgbClr val="5E17EB"/>
                </a:solidFill>
              </a:rPr>
              <a:t>Target merchants:</a:t>
            </a:r>
          </a:p>
        </p:txBody>
      </p:sp>
      <p:sp>
        <p:nvSpPr>
          <p:cNvPr id="12" name="TextBox 11"/>
          <p:cNvSpPr txBox="1"/>
          <p:nvPr/>
        </p:nvSpPr>
        <p:spPr>
          <a:xfrm>
            <a:off x="2743200" y="2468880"/>
            <a:ext cx="9144000" cy="411480"/>
          </a:xfrm>
          <a:prstGeom prst="rect">
            <a:avLst/>
          </a:prstGeom>
          <a:noFill/>
        </p:spPr>
        <p:txBody>
          <a:bodyPr wrap="square">
            <a:spAutoFit/>
          </a:bodyPr>
          <a:lstStyle/>
          <a:p>
            <a:pPr algn="l"/>
            <a:r>
              <a:rPr sz="1400" b="0" i="0">
                <a:solidFill>
                  <a:srgbClr val="12101A"/>
                </a:solidFill>
              </a:rPr>
              <a:t>Premier Inn, Travelodge (hundreds of properties). easyJet, Jet2 (direct booking).</a:t>
            </a:r>
          </a:p>
        </p:txBody>
      </p:sp>
      <p:sp>
        <p:nvSpPr>
          <p:cNvPr id="13" name="TextBox 12"/>
          <p:cNvSpPr txBox="1"/>
          <p:nvPr/>
        </p:nvSpPr>
        <p:spPr>
          <a:xfrm>
            <a:off x="457200" y="2926080"/>
            <a:ext cx="3657600" cy="320040"/>
          </a:xfrm>
          <a:prstGeom prst="rect">
            <a:avLst/>
          </a:prstGeom>
          <a:noFill/>
        </p:spPr>
        <p:txBody>
          <a:bodyPr wrap="square">
            <a:spAutoFit/>
          </a:bodyPr>
          <a:lstStyle/>
          <a:p>
            <a:pPr algn="l"/>
            <a:r>
              <a:rPr sz="1400" b="1" i="0">
                <a:solidFill>
                  <a:srgbClr val="12101A"/>
                </a:solidFill>
              </a:rPr>
              <a:t>Agent query examples:</a:t>
            </a:r>
          </a:p>
        </p:txBody>
      </p:sp>
      <p:sp>
        <p:nvSpPr>
          <p:cNvPr id="14" name="Rectangle 13"/>
          <p:cNvSpPr/>
          <p:nvPr/>
        </p:nvSpPr>
        <p:spPr>
          <a:xfrm>
            <a:off x="457200" y="3337560"/>
            <a:ext cx="10058400" cy="502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383280"/>
            <a:ext cx="9692640" cy="411480"/>
          </a:xfrm>
          <a:prstGeom prst="rect">
            <a:avLst/>
          </a:prstGeom>
          <a:noFill/>
        </p:spPr>
        <p:txBody>
          <a:bodyPr wrap="square">
            <a:spAutoFit/>
          </a:bodyPr>
          <a:lstStyle/>
          <a:p>
            <a:pPr algn="l"/>
            <a:r>
              <a:rPr sz="1400" b="0" i="1">
                <a:solidFill>
                  <a:srgbClr val="12101A"/>
                </a:solidFill>
              </a:rPr>
              <a:t>"Book me a Premier Inn near Kings Cross for Friday night"</a:t>
            </a:r>
          </a:p>
        </p:txBody>
      </p:sp>
      <p:sp>
        <p:nvSpPr>
          <p:cNvPr id="16" name="Rectangle 15"/>
          <p:cNvSpPr/>
          <p:nvPr/>
        </p:nvSpPr>
        <p:spPr>
          <a:xfrm>
            <a:off x="457200" y="3931920"/>
            <a:ext cx="10058400" cy="502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977640"/>
            <a:ext cx="9692640" cy="411480"/>
          </a:xfrm>
          <a:prstGeom prst="rect">
            <a:avLst/>
          </a:prstGeom>
          <a:noFill/>
        </p:spPr>
        <p:txBody>
          <a:bodyPr wrap="square">
            <a:spAutoFit/>
          </a:bodyPr>
          <a:lstStyle/>
          <a:p>
            <a:pPr algn="l"/>
            <a:r>
              <a:rPr sz="1400" b="0" i="1">
                <a:solidFill>
                  <a:srgbClr val="12101A"/>
                </a:solidFill>
              </a:rPr>
              <a:t>"Find the cheapest direct flight to Barcelona next weekend"</a:t>
            </a:r>
          </a:p>
        </p:txBody>
      </p:sp>
      <p:sp>
        <p:nvSpPr>
          <p:cNvPr id="18" name="Rectangle 17"/>
          <p:cNvSpPr/>
          <p:nvPr/>
        </p:nvSpPr>
        <p:spPr>
          <a:xfrm>
            <a:off x="457200" y="4526280"/>
            <a:ext cx="10058400" cy="502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572000"/>
            <a:ext cx="9692640" cy="411480"/>
          </a:xfrm>
          <a:prstGeom prst="rect">
            <a:avLst/>
          </a:prstGeom>
          <a:noFill/>
        </p:spPr>
        <p:txBody>
          <a:bodyPr wrap="square">
            <a:spAutoFit/>
          </a:bodyPr>
          <a:lstStyle/>
          <a:p>
            <a:pPr algn="l"/>
            <a:r>
              <a:rPr sz="1400" b="0" i="1">
                <a:solidFill>
                  <a:srgbClr val="12101A"/>
                </a:solidFill>
              </a:rPr>
              <a:t>"Compare hotel deals in Edinburgh for 2 nights"</a:t>
            </a:r>
          </a:p>
        </p:txBody>
      </p:sp>
      <p:sp>
        <p:nvSpPr>
          <p:cNvPr id="20" name="TextBox 19"/>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21" name="TextBox 20"/>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640080"/>
          </a:xfrm>
          <a:prstGeom prst="rect">
            <a:avLst/>
          </a:prstGeom>
          <a:noFill/>
        </p:spPr>
        <p:txBody>
          <a:bodyPr wrap="square">
            <a:spAutoFit/>
          </a:bodyPr>
          <a:lstStyle/>
          <a:p>
            <a:pPr algn="l"/>
            <a:r>
              <a:rPr sz="3200" b="1" i="0">
                <a:solidFill>
                  <a:srgbClr val="5E17EB"/>
                </a:solidFill>
              </a:rPr>
              <a:t>First movers get the best terms. Permanently.</a:t>
            </a:r>
          </a:p>
        </p:txBody>
      </p:sp>
      <p:graphicFrame>
        <p:nvGraphicFramePr>
          <p:cNvPr id="5" name="Table 4"/>
          <p:cNvGraphicFramePr>
            <a:graphicFrameLocks noGrp="1"/>
          </p:cNvGraphicFramePr>
          <p:nvPr/>
        </p:nvGraphicFramePr>
        <p:xfrm>
          <a:off x="457200" y="1097280"/>
          <a:ext cx="11247120" cy="4114800"/>
        </p:xfrm>
        <a:graphic>
          <a:graphicData uri="http://schemas.openxmlformats.org/drawingml/2006/table">
            <a:tbl>
              <a:tblPr firstRow="1" bandRow="1">
                <a:tableStyleId>{5C22544A-7EE6-4342-B048-85BDC9FD1C3A}</a:tableStyleId>
              </a:tblPr>
              <a:tblGrid>
                <a:gridCol w="2560320"/>
                <a:gridCol w="4846320"/>
                <a:gridCol w="3840480"/>
              </a:tblGrid>
              <a:tr h="587828">
                <a:tc>
                  <a:txBody>
                    <a:bodyPr/>
                    <a:lstStyle/>
                    <a:p>
                      <a:r>
                        <a:rPr sz="1300" b="1">
                          <a:solidFill>
                            <a:srgbClr val="FEFFF5"/>
                          </a:solidFill>
                        </a:rPr>
                        <a:t>Term</a:t>
                      </a:r>
                    </a:p>
                  </a:txBody>
                  <a:tcPr>
                    <a:solidFill>
                      <a:srgbClr val="5E17EB"/>
                    </a:solidFill>
                  </a:tcPr>
                </a:tc>
                <a:tc>
                  <a:txBody>
                    <a:bodyPr/>
                    <a:lstStyle/>
                    <a:p>
                      <a:r>
                        <a:rPr sz="1300" b="1">
                          <a:solidFill>
                            <a:srgbClr val="FEFFF5"/>
                          </a:solidFill>
                        </a:rPr>
                        <a:t>Founding Merchant</a:t>
                      </a:r>
                    </a:p>
                  </a:txBody>
                  <a:tcPr>
                    <a:solidFill>
                      <a:srgbClr val="5E17EB"/>
                    </a:solidFill>
                  </a:tcPr>
                </a:tc>
                <a:tc>
                  <a:txBody>
                    <a:bodyPr/>
                    <a:lstStyle/>
                    <a:p>
                      <a:r>
                        <a:rPr sz="1300" b="1">
                          <a:solidFill>
                            <a:srgbClr val="FEFFF5"/>
                          </a:solidFill>
                        </a:rPr>
                        <a:t>Standard (Post-Launch)</a:t>
                      </a:r>
                    </a:p>
                  </a:txBody>
                  <a:tcPr>
                    <a:solidFill>
                      <a:srgbClr val="5E17EB"/>
                    </a:solidFill>
                  </a:tcPr>
                </a:tc>
              </a:tr>
              <a:tr h="587828">
                <a:tc>
                  <a:txBody>
                    <a:bodyPr/>
                    <a:lstStyle/>
                    <a:p>
                      <a:r>
                        <a:rPr sz="1200" b="0">
                          <a:solidFill>
                            <a:srgbClr val="12101A"/>
                          </a:solidFill>
                        </a:rPr>
                        <a:t>Platform fees</a:t>
                      </a:r>
                    </a:p>
                  </a:txBody>
                  <a:tcPr>
                    <a:solidFill>
                      <a:srgbClr val="FEFFF5"/>
                    </a:solidFill>
                  </a:tcPr>
                </a:tc>
                <a:tc>
                  <a:txBody>
                    <a:bodyPr/>
                    <a:lstStyle/>
                    <a:p>
                      <a:r>
                        <a:rPr sz="1200" b="1">
                          <a:solidFill>
                            <a:srgbClr val="5E17EB"/>
                          </a:solidFill>
                        </a:rPr>
                        <a:t>£0 for 24 months</a:t>
                      </a:r>
                    </a:p>
                  </a:txBody>
                  <a:tcPr>
                    <a:solidFill>
                      <a:srgbClr val="EFE6FE"/>
                    </a:solidFill>
                  </a:tcPr>
                </a:tc>
                <a:tc>
                  <a:txBody>
                    <a:bodyPr/>
                    <a:lstStyle/>
                    <a:p>
                      <a:r>
                        <a:rPr sz="1200" b="0">
                          <a:solidFill>
                            <a:srgbClr val="12101A"/>
                          </a:solidFill>
                        </a:rPr>
                        <a:t>Usage-based pricing</a:t>
                      </a:r>
                    </a:p>
                  </a:txBody>
                  <a:tcPr>
                    <a:solidFill>
                      <a:srgbClr val="FEFFF5"/>
                    </a:solidFill>
                  </a:tcPr>
                </a:tc>
              </a:tr>
              <a:tr h="587828">
                <a:tc>
                  <a:txBody>
                    <a:bodyPr/>
                    <a:lstStyle/>
                    <a:p>
                      <a:r>
                        <a:rPr sz="1200" b="0">
                          <a:solidFill>
                            <a:srgbClr val="12101A"/>
                          </a:solidFill>
                        </a:rPr>
                        <a:t>Commission rates</a:t>
                      </a:r>
                    </a:p>
                  </a:txBody>
                  <a:tcPr>
                    <a:solidFill>
                      <a:srgbClr val="EFE6FE"/>
                    </a:solidFill>
                  </a:tcPr>
                </a:tc>
                <a:tc>
                  <a:txBody>
                    <a:bodyPr/>
                    <a:lstStyle/>
                    <a:p>
                      <a:r>
                        <a:rPr sz="1200" b="1">
                          <a:solidFill>
                            <a:srgbClr val="5E17EB"/>
                          </a:solidFill>
                        </a:rPr>
                        <a:t>Matched to your best affiliate tier</a:t>
                      </a:r>
                    </a:p>
                  </a:txBody>
                  <a:tcPr>
                    <a:solidFill>
                      <a:srgbClr val="DDCCFD"/>
                    </a:solidFill>
                  </a:tcPr>
                </a:tc>
                <a:tc>
                  <a:txBody>
                    <a:bodyPr/>
                    <a:lstStyle/>
                    <a:p>
                      <a:r>
                        <a:rPr sz="1200" b="0">
                          <a:solidFill>
                            <a:srgbClr val="12101A"/>
                          </a:solidFill>
                        </a:rPr>
                        <a:t>Market rates</a:t>
                      </a:r>
                    </a:p>
                  </a:txBody>
                  <a:tcPr>
                    <a:solidFill>
                      <a:srgbClr val="EFE6FE"/>
                    </a:solidFill>
                  </a:tcPr>
                </a:tc>
              </a:tr>
              <a:tr h="587828">
                <a:tc>
                  <a:txBody>
                    <a:bodyPr/>
                    <a:lstStyle/>
                    <a:p>
                      <a:r>
                        <a:rPr sz="1200" b="0">
                          <a:solidFill>
                            <a:srgbClr val="12101A"/>
                          </a:solidFill>
                        </a:rPr>
                        <a:t>Exclusivity</a:t>
                      </a:r>
                    </a:p>
                  </a:txBody>
                  <a:tcPr>
                    <a:solidFill>
                      <a:srgbClr val="FEFFF5"/>
                    </a:solidFill>
                  </a:tcPr>
                </a:tc>
                <a:tc>
                  <a:txBody>
                    <a:bodyPr/>
                    <a:lstStyle/>
                    <a:p>
                      <a:r>
                        <a:rPr sz="1200" b="1">
                          <a:solidFill>
                            <a:srgbClr val="5E17EB"/>
                          </a:solidFill>
                        </a:rPr>
                        <a:t>Non-exclusive — keep existing affiliates</a:t>
                      </a:r>
                    </a:p>
                  </a:txBody>
                  <a:tcPr>
                    <a:solidFill>
                      <a:srgbClr val="EFE6FE"/>
                    </a:solidFill>
                  </a:tcPr>
                </a:tc>
                <a:tc>
                  <a:txBody>
                    <a:bodyPr/>
                    <a:lstStyle/>
                    <a:p>
                      <a:r>
                        <a:rPr sz="1200" b="0">
                          <a:solidFill>
                            <a:srgbClr val="12101A"/>
                          </a:solidFill>
                        </a:rPr>
                        <a:t>Non-exclusive</a:t>
                      </a:r>
                    </a:p>
                  </a:txBody>
                  <a:tcPr>
                    <a:solidFill>
                      <a:srgbClr val="FEFFF5"/>
                    </a:solidFill>
                  </a:tcPr>
                </a:tc>
              </a:tr>
              <a:tr h="587828">
                <a:tc>
                  <a:txBody>
                    <a:bodyPr/>
                    <a:lstStyle/>
                    <a:p>
                      <a:r>
                        <a:rPr sz="1200" b="0">
                          <a:solidFill>
                            <a:srgbClr val="12101A"/>
                          </a:solidFill>
                        </a:rPr>
                        <a:t>Onboarding</a:t>
                      </a:r>
                    </a:p>
                  </a:txBody>
                  <a:tcPr>
                    <a:solidFill>
                      <a:srgbClr val="EFE6FE"/>
                    </a:solidFill>
                  </a:tcPr>
                </a:tc>
                <a:tc>
                  <a:txBody>
                    <a:bodyPr/>
                    <a:lstStyle/>
                    <a:p>
                      <a:r>
                        <a:rPr sz="1200" b="1">
                          <a:solidFill>
                            <a:srgbClr val="5E17EB"/>
                          </a:solidFill>
                        </a:rPr>
                        <a:t>White-glove — we integrate for you</a:t>
                      </a:r>
                    </a:p>
                  </a:txBody>
                  <a:tcPr>
                    <a:solidFill>
                      <a:srgbClr val="DDCCFD"/>
                    </a:solidFill>
                  </a:tcPr>
                </a:tc>
                <a:tc>
                  <a:txBody>
                    <a:bodyPr/>
                    <a:lstStyle/>
                    <a:p>
                      <a:r>
                        <a:rPr sz="1200" b="0">
                          <a:solidFill>
                            <a:srgbClr val="12101A"/>
                          </a:solidFill>
                        </a:rPr>
                        <a:t>Self-serve</a:t>
                      </a:r>
                    </a:p>
                  </a:txBody>
                  <a:tcPr>
                    <a:solidFill>
                      <a:srgbClr val="EFE6FE"/>
                    </a:solidFill>
                  </a:tcPr>
                </a:tc>
              </a:tr>
              <a:tr h="587828">
                <a:tc>
                  <a:txBody>
                    <a:bodyPr/>
                    <a:lstStyle/>
                    <a:p>
                      <a:r>
                        <a:rPr sz="1200" b="0">
                          <a:solidFill>
                            <a:srgbClr val="12101A"/>
                          </a:solidFill>
                        </a:rPr>
                        <a:t>Placement</a:t>
                      </a:r>
                    </a:p>
                  </a:txBody>
                  <a:tcPr>
                    <a:solidFill>
                      <a:srgbClr val="FEFFF5"/>
                    </a:solidFill>
                  </a:tcPr>
                </a:tc>
                <a:tc>
                  <a:txBody>
                    <a:bodyPr/>
                    <a:lstStyle/>
                    <a:p>
                      <a:r>
                        <a:rPr sz="1200" b="1">
                          <a:solidFill>
                            <a:srgbClr val="5E17EB"/>
                          </a:solidFill>
                        </a:rPr>
                        <a:t>Founding-tier — locked before market matures</a:t>
                      </a:r>
                    </a:p>
                  </a:txBody>
                  <a:tcPr>
                    <a:solidFill>
                      <a:srgbClr val="EFE6FE"/>
                    </a:solidFill>
                  </a:tcPr>
                </a:tc>
                <a:tc>
                  <a:txBody>
                    <a:bodyPr/>
                    <a:lstStyle/>
                    <a:p>
                      <a:r>
                        <a:rPr sz="1200" b="0">
                          <a:solidFill>
                            <a:srgbClr val="12101A"/>
                          </a:solidFill>
                        </a:rPr>
                        <a:t>Queue-based</a:t>
                      </a:r>
                    </a:p>
                  </a:txBody>
                  <a:tcPr>
                    <a:solidFill>
                      <a:srgbClr val="FEFFF5"/>
                    </a:solidFill>
                  </a:tcPr>
                </a:tc>
              </a:tr>
              <a:tr h="587832">
                <a:tc>
                  <a:txBody>
                    <a:bodyPr/>
                    <a:lstStyle/>
                    <a:p>
                      <a:r>
                        <a:rPr sz="1200" b="0">
                          <a:solidFill>
                            <a:srgbClr val="12101A"/>
                          </a:solidFill>
                        </a:rPr>
                        <a:t>Exit</a:t>
                      </a:r>
                    </a:p>
                  </a:txBody>
                  <a:tcPr>
                    <a:solidFill>
                      <a:srgbClr val="EFE6FE"/>
                    </a:solidFill>
                  </a:tcPr>
                </a:tc>
                <a:tc>
                  <a:txBody>
                    <a:bodyPr/>
                    <a:lstStyle/>
                    <a:p>
                      <a:r>
                        <a:rPr sz="1200" b="1">
                          <a:solidFill>
                            <a:srgbClr val="5E17EB"/>
                          </a:solidFill>
                        </a:rPr>
                        <a:t>Cancel anytime — no lock-in</a:t>
                      </a:r>
                    </a:p>
                  </a:txBody>
                  <a:tcPr>
                    <a:solidFill>
                      <a:srgbClr val="DDCCFD"/>
                    </a:solidFill>
                  </a:tcPr>
                </a:tc>
                <a:tc>
                  <a:txBody>
                    <a:bodyPr/>
                    <a:lstStyle/>
                    <a:p>
                      <a:r>
                        <a:rPr sz="1200" b="0">
                          <a:solidFill>
                            <a:srgbClr val="12101A"/>
                          </a:solidFill>
                        </a:rPr>
                        <a:t>Standard terms</a:t>
                      </a:r>
                    </a:p>
                  </a:txBody>
                  <a:tcPr>
                    <a:solidFill>
                      <a:srgbClr val="EFE6FE"/>
                    </a:solidFill>
                  </a:tcPr>
                </a:tc>
              </a:tr>
            </a:tbl>
          </a:graphicData>
        </a:graphic>
      </p:graphicFrame>
      <p:sp>
        <p:nvSpPr>
          <p:cNvPr id="6" name="TextBox 5"/>
          <p:cNvSpPr txBox="1"/>
          <p:nvPr/>
        </p:nvSpPr>
        <p:spPr>
          <a:xfrm>
            <a:off x="457200" y="5486400"/>
            <a:ext cx="11247120" cy="365760"/>
          </a:xfrm>
          <a:prstGeom prst="rect">
            <a:avLst/>
          </a:prstGeom>
          <a:noFill/>
        </p:spPr>
        <p:txBody>
          <a:bodyPr wrap="square">
            <a:spAutoFit/>
          </a:bodyPr>
          <a:lstStyle/>
          <a:p>
            <a:pPr algn="ctr"/>
            <a:r>
              <a:rPr sz="1400" b="1" i="0">
                <a:solidFill>
                  <a:srgbClr val="5E17EB"/>
                </a:solidFill>
              </a:rPr>
              <a:t>What we ask: A 15-minute onboarding call, your product catalogue, your existing commission rate.</a:t>
            </a:r>
          </a:p>
        </p:txBody>
      </p:sp>
      <p:sp>
        <p:nvSpPr>
          <p:cNvPr id="7" name="TextBox 6"/>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8" name="TextBox 7"/>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640080"/>
          </a:xfrm>
          <a:prstGeom prst="rect">
            <a:avLst/>
          </a:prstGeom>
          <a:noFill/>
        </p:spPr>
        <p:txBody>
          <a:bodyPr wrap="square">
            <a:spAutoFit/>
          </a:bodyPr>
          <a:lstStyle/>
          <a:p>
            <a:pPr algn="l"/>
            <a:r>
              <a:rPr sz="3000" b="1" i="0">
                <a:solidFill>
                  <a:srgbClr val="3A3548"/>
                </a:solidFill>
              </a:rPr>
              <a:t>"The traffic isn't big enough yet"</a:t>
            </a:r>
          </a:p>
        </p:txBody>
      </p:sp>
      <p:sp>
        <p:nvSpPr>
          <p:cNvPr id="5" name="TextBox 4"/>
          <p:cNvSpPr txBox="1"/>
          <p:nvPr/>
        </p:nvSpPr>
        <p:spPr>
          <a:xfrm>
            <a:off x="457200" y="1005840"/>
            <a:ext cx="11247120" cy="548640"/>
          </a:xfrm>
          <a:prstGeom prst="rect">
            <a:avLst/>
          </a:prstGeom>
          <a:noFill/>
        </p:spPr>
        <p:txBody>
          <a:bodyPr wrap="square">
            <a:spAutoFit/>
          </a:bodyPr>
          <a:lstStyle/>
          <a:p>
            <a:pPr algn="l"/>
            <a:r>
              <a:rPr sz="3600" b="1" i="0">
                <a:solidFill>
                  <a:srgbClr val="5E17EB"/>
                </a:solidFill>
              </a:rPr>
              <a:t>You're right. It's not. Yet.</a:t>
            </a:r>
          </a:p>
        </p:txBody>
      </p:sp>
      <p:sp>
        <p:nvSpPr>
          <p:cNvPr id="6" name="TextBox 5"/>
          <p:cNvSpPr txBox="1"/>
          <p:nvPr/>
        </p:nvSpPr>
        <p:spPr>
          <a:xfrm>
            <a:off x="457200" y="1691640"/>
            <a:ext cx="11247120" cy="548640"/>
          </a:xfrm>
          <a:prstGeom prst="rect">
            <a:avLst/>
          </a:prstGeom>
          <a:noFill/>
        </p:spPr>
        <p:txBody>
          <a:bodyPr wrap="square">
            <a:spAutoFit/>
          </a:bodyPr>
          <a:lstStyle/>
          <a:p>
            <a:pPr algn="l"/>
            <a:r>
              <a:rPr sz="1600" b="0" i="0">
                <a:solidFill>
                  <a:srgbClr val="12101A"/>
                </a:solidFill>
              </a:rPr>
              <a:t>Mobile commerce wasn't big in 2010 either. The merchants who built mobile-first checkout captured the channel when it exploded.</a:t>
            </a:r>
          </a:p>
        </p:txBody>
      </p:sp>
      <p:sp>
        <p:nvSpPr>
          <p:cNvPr id="7" name="Rectangle 6"/>
          <p:cNvSpPr/>
          <p:nvPr/>
        </p:nvSpPr>
        <p:spPr>
          <a:xfrm>
            <a:off x="457200" y="2468880"/>
            <a:ext cx="3474720" cy="1645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606040"/>
            <a:ext cx="3200400" cy="640080"/>
          </a:xfrm>
          <a:prstGeom prst="rect">
            <a:avLst/>
          </a:prstGeom>
          <a:noFill/>
        </p:spPr>
        <p:txBody>
          <a:bodyPr wrap="square">
            <a:spAutoFit/>
          </a:bodyPr>
          <a:lstStyle/>
          <a:p>
            <a:pPr algn="ctr"/>
            <a:r>
              <a:rPr sz="2800" b="1" i="0">
                <a:solidFill>
                  <a:srgbClr val="5E17EB"/>
                </a:solidFill>
              </a:rPr>
              <a:t>527% YoY</a:t>
            </a:r>
          </a:p>
        </p:txBody>
      </p:sp>
      <p:sp>
        <p:nvSpPr>
          <p:cNvPr id="9" name="TextBox 8"/>
          <p:cNvSpPr txBox="1"/>
          <p:nvPr/>
        </p:nvSpPr>
        <p:spPr>
          <a:xfrm>
            <a:off x="594360" y="3200400"/>
            <a:ext cx="3200400" cy="640080"/>
          </a:xfrm>
          <a:prstGeom prst="rect">
            <a:avLst/>
          </a:prstGeom>
          <a:noFill/>
        </p:spPr>
        <p:txBody>
          <a:bodyPr wrap="square">
            <a:spAutoFit/>
          </a:bodyPr>
          <a:lstStyle/>
          <a:p>
            <a:pPr algn="ctr"/>
            <a:r>
              <a:rPr sz="1400" b="0" i="0">
                <a:solidFill>
                  <a:srgbClr val="12101A"/>
                </a:solidFill>
              </a:rPr>
              <a:t>Agent traffic is growing fast</a:t>
            </a:r>
          </a:p>
        </p:txBody>
      </p:sp>
      <p:sp>
        <p:nvSpPr>
          <p:cNvPr id="10" name="Rectangle 9"/>
          <p:cNvSpPr/>
          <p:nvPr/>
        </p:nvSpPr>
        <p:spPr>
          <a:xfrm>
            <a:off x="4206240" y="2468880"/>
            <a:ext cx="3474720" cy="1645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2606040"/>
            <a:ext cx="3200400" cy="640080"/>
          </a:xfrm>
          <a:prstGeom prst="rect">
            <a:avLst/>
          </a:prstGeom>
          <a:noFill/>
        </p:spPr>
        <p:txBody>
          <a:bodyPr wrap="square">
            <a:spAutoFit/>
          </a:bodyPr>
          <a:lstStyle/>
          <a:p>
            <a:pPr algn="ctr"/>
            <a:r>
              <a:rPr sz="2800" b="1" i="0">
                <a:solidFill>
                  <a:srgbClr val="5E17EB"/>
                </a:solidFill>
              </a:rPr>
              <a:t>Free for 24 months</a:t>
            </a:r>
          </a:p>
        </p:txBody>
      </p:sp>
      <p:sp>
        <p:nvSpPr>
          <p:cNvPr id="12" name="TextBox 11"/>
          <p:cNvSpPr txBox="1"/>
          <p:nvPr/>
        </p:nvSpPr>
        <p:spPr>
          <a:xfrm>
            <a:off x="4343400" y="3200400"/>
            <a:ext cx="3200400" cy="640080"/>
          </a:xfrm>
          <a:prstGeom prst="rect">
            <a:avLst/>
          </a:prstGeom>
          <a:noFill/>
        </p:spPr>
        <p:txBody>
          <a:bodyPr wrap="square">
            <a:spAutoFit/>
          </a:bodyPr>
          <a:lstStyle/>
          <a:p>
            <a:pPr algn="ctr"/>
            <a:r>
              <a:rPr sz="1400" b="0" i="0">
                <a:solidFill>
                  <a:srgbClr val="12101A"/>
                </a:solidFill>
              </a:rPr>
              <a:t>Zero cost to hold your position</a:t>
            </a:r>
          </a:p>
        </p:txBody>
      </p:sp>
      <p:sp>
        <p:nvSpPr>
          <p:cNvPr id="13" name="Rectangle 12"/>
          <p:cNvSpPr/>
          <p:nvPr/>
        </p:nvSpPr>
        <p:spPr>
          <a:xfrm>
            <a:off x="7955279" y="2468880"/>
            <a:ext cx="3474720" cy="16459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39" y="2606040"/>
            <a:ext cx="3200400" cy="640080"/>
          </a:xfrm>
          <a:prstGeom prst="rect">
            <a:avLst/>
          </a:prstGeom>
          <a:noFill/>
        </p:spPr>
        <p:txBody>
          <a:bodyPr wrap="square">
            <a:spAutoFit/>
          </a:bodyPr>
          <a:lstStyle/>
          <a:p>
            <a:pPr algn="ctr"/>
            <a:r>
              <a:rPr sz="2800" b="1" i="0">
                <a:solidFill>
                  <a:srgbClr val="5E17EB"/>
                </a:solidFill>
              </a:rPr>
              <a:t>Cancel anytime</a:t>
            </a:r>
          </a:p>
        </p:txBody>
      </p:sp>
      <p:sp>
        <p:nvSpPr>
          <p:cNvPr id="15" name="TextBox 14"/>
          <p:cNvSpPr txBox="1"/>
          <p:nvPr/>
        </p:nvSpPr>
        <p:spPr>
          <a:xfrm>
            <a:off x="8092439" y="3200400"/>
            <a:ext cx="3200400" cy="640080"/>
          </a:xfrm>
          <a:prstGeom prst="rect">
            <a:avLst/>
          </a:prstGeom>
          <a:noFill/>
        </p:spPr>
        <p:txBody>
          <a:bodyPr wrap="square">
            <a:spAutoFit/>
          </a:bodyPr>
          <a:lstStyle/>
          <a:p>
            <a:pPr algn="ctr"/>
            <a:r>
              <a:rPr sz="1400" b="0" i="0">
                <a:solidFill>
                  <a:srgbClr val="12101A"/>
                </a:solidFill>
              </a:rPr>
              <a:t>No lock-in. No risk.</a:t>
            </a:r>
          </a:p>
        </p:txBody>
      </p:sp>
      <p:sp>
        <p:nvSpPr>
          <p:cNvPr id="16" name="Rectangle 15"/>
          <p:cNvSpPr/>
          <p:nvPr/>
        </p:nvSpPr>
        <p:spPr>
          <a:xfrm>
            <a:off x="457200" y="4389120"/>
            <a:ext cx="11247120" cy="1371600"/>
          </a:xfrm>
          <a:prstGeom prst="rect">
            <a:avLst/>
          </a:prstGeom>
          <a:solidFill>
            <a:srgbClr val="4B0F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526280"/>
            <a:ext cx="10881360" cy="1097280"/>
          </a:xfrm>
          <a:prstGeom prst="rect">
            <a:avLst/>
          </a:prstGeom>
          <a:noFill/>
        </p:spPr>
        <p:txBody>
          <a:bodyPr wrap="square">
            <a:spAutoFit/>
          </a:bodyPr>
          <a:lstStyle/>
          <a:p>
            <a:pPr algn="l"/>
            <a:r>
              <a:rPr sz="1600" b="1" i="0">
                <a:solidFill>
                  <a:srgbClr val="FEFFF5"/>
                </a:solidFill>
              </a:rPr>
              <a:t>What you risk: Nothing. No platform fees. No lock-in. Cancel anytime.
What you gain: First-mover placement in the agent commerce channel.</a:t>
            </a:r>
          </a:p>
        </p:txBody>
      </p:sp>
      <p:sp>
        <p:nvSpPr>
          <p:cNvPr id="18" name="TextBox 17"/>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19" name="TextBox 18"/>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48640"/>
          </a:xfrm>
          <a:prstGeom prst="rect">
            <a:avLst/>
          </a:prstGeom>
          <a:noFill/>
        </p:spPr>
        <p:txBody>
          <a:bodyPr wrap="square">
            <a:spAutoFit/>
          </a:bodyPr>
          <a:lstStyle/>
          <a:p>
            <a:pPr algn="l"/>
            <a:r>
              <a:rPr sz="2800" b="1" i="0">
                <a:solidFill>
                  <a:srgbClr val="3A3548"/>
                </a:solidFill>
              </a:rPr>
              <a:t>"How is this different from Uswitch?"</a:t>
            </a:r>
          </a:p>
        </p:txBody>
      </p:sp>
      <p:sp>
        <p:nvSpPr>
          <p:cNvPr id="5" name="TextBox 4"/>
          <p:cNvSpPr txBox="1"/>
          <p:nvPr/>
        </p:nvSpPr>
        <p:spPr>
          <a:xfrm>
            <a:off x="457200" y="868680"/>
            <a:ext cx="11247120" cy="548640"/>
          </a:xfrm>
          <a:prstGeom prst="rect">
            <a:avLst/>
          </a:prstGeom>
          <a:noFill/>
        </p:spPr>
        <p:txBody>
          <a:bodyPr wrap="square">
            <a:spAutoFit/>
          </a:bodyPr>
          <a:lstStyle/>
          <a:p>
            <a:pPr algn="l"/>
            <a:r>
              <a:rPr sz="3200" b="1" i="0">
                <a:solidFill>
                  <a:srgbClr val="5E17EB"/>
                </a:solidFill>
              </a:rPr>
              <a:t>Uswitch owns a website. Agents don't use websites.</a:t>
            </a:r>
          </a:p>
        </p:txBody>
      </p:sp>
      <p:graphicFrame>
        <p:nvGraphicFramePr>
          <p:cNvPr id="6" name="Table 5"/>
          <p:cNvGraphicFramePr>
            <a:graphicFrameLocks noGrp="1"/>
          </p:cNvGraphicFramePr>
          <p:nvPr/>
        </p:nvGraphicFramePr>
        <p:xfrm>
          <a:off x="457200" y="1600200"/>
          <a:ext cx="11247120" cy="3657600"/>
        </p:xfrm>
        <a:graphic>
          <a:graphicData uri="http://schemas.openxmlformats.org/drawingml/2006/table">
            <a:tbl>
              <a:tblPr firstRow="1" bandRow="1">
                <a:tableStyleId>{5C22544A-7EE6-4342-B048-85BDC9FD1C3A}</a:tableStyleId>
              </a:tblPr>
              <a:tblGrid>
                <a:gridCol w="2560320"/>
                <a:gridCol w="4297680"/>
                <a:gridCol w="4389120"/>
              </a:tblGrid>
              <a:tr h="609600">
                <a:tc>
                  <a:txBody>
                    <a:bodyPr/>
                    <a:lstStyle/>
                    <a:p>
                      <a:r>
                        <a:rPr sz="1300" b="1">
                          <a:solidFill>
                            <a:srgbClr val="FEFFF5"/>
                          </a:solidFill>
                        </a:rPr>
                        <a:t/>
                      </a:r>
                    </a:p>
                  </a:txBody>
                  <a:tcPr>
                    <a:solidFill>
                      <a:srgbClr val="5E17EB"/>
                    </a:solidFill>
                  </a:tcPr>
                </a:tc>
                <a:tc>
                  <a:txBody>
                    <a:bodyPr/>
                    <a:lstStyle/>
                    <a:p>
                      <a:r>
                        <a:rPr sz="1300" b="1">
                          <a:solidFill>
                            <a:srgbClr val="FEFFF5"/>
                          </a:solidFill>
                        </a:rPr>
                        <a:t>Uswitch / Comparison Sites</a:t>
                      </a:r>
                    </a:p>
                  </a:txBody>
                  <a:tcPr>
                    <a:solidFill>
                      <a:srgbClr val="5E17EB"/>
                    </a:solidFill>
                  </a:tcPr>
                </a:tc>
                <a:tc>
                  <a:txBody>
                    <a:bodyPr/>
                    <a:lstStyle/>
                    <a:p>
                      <a:r>
                        <a:rPr sz="1300" b="1">
                          <a:solidFill>
                            <a:srgbClr val="FEFFF5"/>
                          </a:solidFill>
                        </a:rPr>
                        <a:t>Rako</a:t>
                      </a:r>
                    </a:p>
                  </a:txBody>
                  <a:tcPr>
                    <a:solidFill>
                      <a:srgbClr val="5E17EB"/>
                    </a:solidFill>
                  </a:tcPr>
                </a:tc>
              </a:tr>
              <a:tr h="609600">
                <a:tc>
                  <a:txBody>
                    <a:bodyPr/>
                    <a:lstStyle/>
                    <a:p>
                      <a:r>
                        <a:rPr sz="1200" b="1">
                          <a:solidFill>
                            <a:srgbClr val="12101A"/>
                          </a:solidFill>
                        </a:rPr>
                        <a:t>Interface</a:t>
                      </a:r>
                    </a:p>
                  </a:txBody>
                  <a:tcPr>
                    <a:solidFill>
                      <a:srgbClr val="FEFFF5"/>
                    </a:solidFill>
                  </a:tcPr>
                </a:tc>
                <a:tc>
                  <a:txBody>
                    <a:bodyPr/>
                    <a:lstStyle/>
                    <a:p>
                      <a:r>
                        <a:rPr sz="1200" b="0">
                          <a:solidFill>
                            <a:srgbClr val="12101A"/>
                          </a:solidFill>
                        </a:rPr>
                        <a:t>Consumer-facing website</a:t>
                      </a:r>
                    </a:p>
                  </a:txBody>
                  <a:tcPr>
                    <a:solidFill>
                      <a:srgbClr val="FEFFF5"/>
                    </a:solidFill>
                  </a:tcPr>
                </a:tc>
                <a:tc>
                  <a:txBody>
                    <a:bodyPr/>
                    <a:lstStyle/>
                    <a:p>
                      <a:r>
                        <a:rPr sz="1200" b="0">
                          <a:solidFill>
                            <a:srgbClr val="12101A"/>
                          </a:solidFill>
                        </a:rPr>
                        <a:t>API that agents call directly</a:t>
                      </a:r>
                    </a:p>
                  </a:txBody>
                  <a:tcPr>
                    <a:solidFill>
                      <a:srgbClr val="FEFFF5"/>
                    </a:solidFill>
                  </a:tcPr>
                </a:tc>
              </a:tr>
              <a:tr h="609600">
                <a:tc>
                  <a:txBody>
                    <a:bodyPr/>
                    <a:lstStyle/>
                    <a:p>
                      <a:r>
                        <a:rPr sz="1200" b="1">
                          <a:solidFill>
                            <a:srgbClr val="12101A"/>
                          </a:solidFill>
                        </a:rPr>
                        <a:t>Attribution</a:t>
                      </a:r>
                    </a:p>
                  </a:txBody>
                  <a:tcPr>
                    <a:solidFill>
                      <a:srgbClr val="EFE6FE"/>
                    </a:solidFill>
                  </a:tcPr>
                </a:tc>
                <a:tc>
                  <a:txBody>
                    <a:bodyPr/>
                    <a:lstStyle/>
                    <a:p>
                      <a:r>
                        <a:rPr sz="1200" b="0">
                          <a:solidFill>
                            <a:srgbClr val="12101A"/>
                          </a:solidFill>
                        </a:rPr>
                        <a:t>Cookies + tracked clicks</a:t>
                      </a:r>
                    </a:p>
                  </a:txBody>
                  <a:tcPr>
                    <a:solidFill>
                      <a:srgbClr val="EFE6FE"/>
                    </a:solidFill>
                  </a:tcPr>
                </a:tc>
                <a:tc>
                  <a:txBody>
                    <a:bodyPr/>
                    <a:lstStyle/>
                    <a:p>
                      <a:r>
                        <a:rPr sz="1200" b="0">
                          <a:solidFill>
                            <a:srgbClr val="12101A"/>
                          </a:solidFill>
                        </a:rPr>
                        <a:t>Cryptographic AAP Code in payment metadata</a:t>
                      </a:r>
                    </a:p>
                  </a:txBody>
                  <a:tcPr>
                    <a:solidFill>
                      <a:srgbClr val="EFE6FE"/>
                    </a:solidFill>
                  </a:tcPr>
                </a:tc>
              </a:tr>
              <a:tr h="609600">
                <a:tc>
                  <a:txBody>
                    <a:bodyPr/>
                    <a:lstStyle/>
                    <a:p>
                      <a:r>
                        <a:rPr sz="1200" b="1">
                          <a:solidFill>
                            <a:srgbClr val="12101A"/>
                          </a:solidFill>
                        </a:rPr>
                        <a:t>Agent support</a:t>
                      </a:r>
                    </a:p>
                  </a:txBody>
                  <a:tcPr>
                    <a:solidFill>
                      <a:srgbClr val="FEFFF5"/>
                    </a:solidFill>
                  </a:tcPr>
                </a:tc>
                <a:tc>
                  <a:txBody>
                    <a:bodyPr/>
                    <a:lstStyle/>
                    <a:p>
                      <a:r>
                        <a:rPr sz="1200" b="0">
                          <a:solidFill>
                            <a:srgbClr val="12101A"/>
                          </a:solidFill>
                        </a:rPr>
                        <a:t>None (agents can't browse Uswitch)</a:t>
                      </a:r>
                    </a:p>
                  </a:txBody>
                  <a:tcPr>
                    <a:solidFill>
                      <a:srgbClr val="FEFFF5"/>
                    </a:solidFill>
                  </a:tcPr>
                </a:tc>
                <a:tc>
                  <a:txBody>
                    <a:bodyPr/>
                    <a:lstStyle/>
                    <a:p>
                      <a:r>
                        <a:rPr sz="1200" b="0">
                          <a:solidFill>
                            <a:srgbClr val="12101A"/>
                          </a:solidFill>
                        </a:rPr>
                        <a:t>Native (built for agent queries)</a:t>
                      </a:r>
                    </a:p>
                  </a:txBody>
                  <a:tcPr>
                    <a:solidFill>
                      <a:srgbClr val="FEFFF5"/>
                    </a:solidFill>
                  </a:tcPr>
                </a:tc>
              </a:tr>
              <a:tr h="609600">
                <a:tc>
                  <a:txBody>
                    <a:bodyPr/>
                    <a:lstStyle/>
                    <a:p>
                      <a:r>
                        <a:rPr sz="1200" b="1">
                          <a:solidFill>
                            <a:srgbClr val="12101A"/>
                          </a:solidFill>
                        </a:rPr>
                        <a:t>Commission</a:t>
                      </a:r>
                    </a:p>
                  </a:txBody>
                  <a:tcPr>
                    <a:solidFill>
                      <a:srgbClr val="EFE6FE"/>
                    </a:solidFill>
                  </a:tcPr>
                </a:tc>
                <a:tc>
                  <a:txBody>
                    <a:bodyPr/>
                    <a:lstStyle/>
                    <a:p>
                      <a:r>
                        <a:rPr sz="1200" b="0">
                          <a:solidFill>
                            <a:srgbClr val="12101A"/>
                          </a:solidFill>
                        </a:rPr>
                        <a:t>20–40% CPA typical</a:t>
                      </a:r>
                    </a:p>
                  </a:txBody>
                  <a:tcPr>
                    <a:solidFill>
                      <a:srgbClr val="EFE6FE"/>
                    </a:solidFill>
                  </a:tcPr>
                </a:tc>
                <a:tc>
                  <a:txBody>
                    <a:bodyPr/>
                    <a:lstStyle/>
                    <a:p>
                      <a:r>
                        <a:rPr sz="1200" b="0">
                          <a:solidFill>
                            <a:srgbClr val="12101A"/>
                          </a:solidFill>
                        </a:rPr>
                        <a:t>Matched to your best existing rate</a:t>
                      </a:r>
                    </a:p>
                  </a:txBody>
                  <a:tcPr>
                    <a:solidFill>
                      <a:srgbClr val="EFE6FE"/>
                    </a:solidFill>
                  </a:tcPr>
                </a:tc>
              </a:tr>
              <a:tr h="609600">
                <a:tc>
                  <a:txBody>
                    <a:bodyPr/>
                    <a:lstStyle/>
                    <a:p>
                      <a:r>
                        <a:rPr sz="1200" b="1">
                          <a:solidFill>
                            <a:srgbClr val="12101A"/>
                          </a:solidFill>
                        </a:rPr>
                        <a:t>Who owns the customer</a:t>
                      </a:r>
                    </a:p>
                  </a:txBody>
                  <a:tcPr>
                    <a:solidFill>
                      <a:srgbClr val="FEFFF5"/>
                    </a:solidFill>
                  </a:tcPr>
                </a:tc>
                <a:tc>
                  <a:txBody>
                    <a:bodyPr/>
                    <a:lstStyle/>
                    <a:p>
                      <a:r>
                        <a:rPr sz="1200" b="0">
                          <a:solidFill>
                            <a:srgbClr val="12101A"/>
                          </a:solidFill>
                        </a:rPr>
                        <a:t>Uswitch (they remarket to your customer)</a:t>
                      </a:r>
                    </a:p>
                  </a:txBody>
                  <a:tcPr>
                    <a:solidFill>
                      <a:srgbClr val="FEFFF5"/>
                    </a:solidFill>
                  </a:tcPr>
                </a:tc>
                <a:tc>
                  <a:txBody>
                    <a:bodyPr/>
                    <a:lstStyle/>
                    <a:p>
                      <a:r>
                        <a:rPr sz="1200" b="0">
                          <a:solidFill>
                            <a:srgbClr val="12101A"/>
                          </a:solidFill>
                        </a:rPr>
                        <a:t>You (customer buys through your checkout)</a:t>
                      </a:r>
                    </a:p>
                  </a:txBody>
                  <a:tcPr>
                    <a:solidFill>
                      <a:srgbClr val="FEFFF5"/>
                    </a:solidFill>
                  </a:tcPr>
                </a:tc>
              </a:tr>
            </a:tbl>
          </a:graphicData>
        </a:graphic>
      </p:graphicFrame>
      <p:sp>
        <p:nvSpPr>
          <p:cNvPr id="7" name="TextBox 6"/>
          <p:cNvSpPr txBox="1"/>
          <p:nvPr/>
        </p:nvSpPr>
        <p:spPr>
          <a:xfrm>
            <a:off x="457200" y="5486400"/>
            <a:ext cx="11247120" cy="365760"/>
          </a:xfrm>
          <a:prstGeom prst="rect">
            <a:avLst/>
          </a:prstGeom>
          <a:noFill/>
        </p:spPr>
        <p:txBody>
          <a:bodyPr wrap="square">
            <a:spAutoFit/>
          </a:bodyPr>
          <a:lstStyle/>
          <a:p>
            <a:pPr algn="l"/>
            <a:r>
              <a:rPr sz="1300" b="0" i="1">
                <a:solidFill>
                  <a:srgbClr val="3A3548"/>
                </a:solidFill>
              </a:rPr>
              <a:t>Comparison sites can't operate in the agent channel. Agents don't browse pages. Rako is the API that agents call instead.</a:t>
            </a:r>
          </a:p>
        </p:txBody>
      </p:sp>
      <p:sp>
        <p:nvSpPr>
          <p:cNvPr id="8" name="TextBox 7"/>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9" name="TextBox 8"/>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548640"/>
          </a:xfrm>
          <a:prstGeom prst="rect">
            <a:avLst/>
          </a:prstGeom>
          <a:noFill/>
        </p:spPr>
        <p:txBody>
          <a:bodyPr wrap="square">
            <a:spAutoFit/>
          </a:bodyPr>
          <a:lstStyle/>
          <a:p>
            <a:pPr algn="l"/>
            <a:r>
              <a:rPr sz="2800" b="1" i="0">
                <a:solidFill>
                  <a:srgbClr val="3A3548"/>
                </a:solidFill>
              </a:rPr>
              <a:t>"Is this regulated?"</a:t>
            </a:r>
          </a:p>
        </p:txBody>
      </p:sp>
      <p:sp>
        <p:nvSpPr>
          <p:cNvPr id="5" name="TextBox 4"/>
          <p:cNvSpPr txBox="1"/>
          <p:nvPr/>
        </p:nvSpPr>
        <p:spPr>
          <a:xfrm>
            <a:off x="457200" y="868680"/>
            <a:ext cx="11247120" cy="548640"/>
          </a:xfrm>
          <a:prstGeom prst="rect">
            <a:avLst/>
          </a:prstGeom>
          <a:noFill/>
        </p:spPr>
        <p:txBody>
          <a:bodyPr wrap="square">
            <a:spAutoFit/>
          </a:bodyPr>
          <a:lstStyle/>
          <a:p>
            <a:pPr algn="l"/>
            <a:r>
              <a:rPr sz="3000" b="1" i="0">
                <a:solidFill>
                  <a:srgbClr val="5E17EB"/>
                </a:solidFill>
              </a:rPr>
              <a:t>Rako is a technology platform, not a payment institution.</a:t>
            </a:r>
          </a:p>
        </p:txBody>
      </p:sp>
      <p:sp>
        <p:nvSpPr>
          <p:cNvPr id="6" name="Rectangle 5"/>
          <p:cNvSpPr/>
          <p:nvPr/>
        </p:nvSpPr>
        <p:spPr>
          <a:xfrm>
            <a:off x="457200" y="1645920"/>
            <a:ext cx="365760" cy="502920"/>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91640"/>
            <a:ext cx="10515600" cy="502920"/>
          </a:xfrm>
          <a:prstGeom prst="rect">
            <a:avLst/>
          </a:prstGeom>
          <a:noFill/>
        </p:spPr>
        <p:txBody>
          <a:bodyPr wrap="square">
            <a:spAutoFit/>
          </a:bodyPr>
          <a:lstStyle/>
          <a:p>
            <a:pPr algn="l"/>
            <a:r>
              <a:rPr sz="1500" b="0" i="0">
                <a:solidFill>
                  <a:srgbClr val="12101A"/>
                </a:solidFill>
              </a:rPr>
              <a:t>Rako provides attribution and orchestration infrastructure</a:t>
            </a:r>
          </a:p>
        </p:txBody>
      </p:sp>
      <p:sp>
        <p:nvSpPr>
          <p:cNvPr id="8" name="Rectangle 7"/>
          <p:cNvSpPr/>
          <p:nvPr/>
        </p:nvSpPr>
        <p:spPr>
          <a:xfrm>
            <a:off x="457200" y="2377440"/>
            <a:ext cx="365760" cy="502920"/>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23160"/>
            <a:ext cx="10515600" cy="502920"/>
          </a:xfrm>
          <a:prstGeom prst="rect">
            <a:avLst/>
          </a:prstGeom>
          <a:noFill/>
        </p:spPr>
        <p:txBody>
          <a:bodyPr wrap="square">
            <a:spAutoFit/>
          </a:bodyPr>
          <a:lstStyle/>
          <a:p>
            <a:pPr algn="l"/>
            <a:r>
              <a:rPr sz="1500" b="0" i="0">
                <a:solidFill>
                  <a:srgbClr val="12101A"/>
                </a:solidFill>
              </a:rPr>
              <a:t>Payments execute on your PSP (Stripe, Adyen, Worldpay) — Rako never touches funds</a:t>
            </a:r>
          </a:p>
        </p:txBody>
      </p:sp>
      <p:sp>
        <p:nvSpPr>
          <p:cNvPr id="10" name="Rectangle 9"/>
          <p:cNvSpPr/>
          <p:nvPr/>
        </p:nvSpPr>
        <p:spPr>
          <a:xfrm>
            <a:off x="457200" y="3108960"/>
            <a:ext cx="365760" cy="502920"/>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154680"/>
            <a:ext cx="10515600" cy="502920"/>
          </a:xfrm>
          <a:prstGeom prst="rect">
            <a:avLst/>
          </a:prstGeom>
          <a:noFill/>
        </p:spPr>
        <p:txBody>
          <a:bodyPr wrap="square">
            <a:spAutoFit/>
          </a:bodyPr>
          <a:lstStyle/>
          <a:p>
            <a:pPr algn="l"/>
            <a:r>
              <a:rPr sz="1500" b="0" i="0">
                <a:solidFill>
                  <a:srgbClr val="12101A"/>
                </a:solidFill>
              </a:rPr>
              <a:t>Commission is invoiced separately, monthly, after verified conversions</a:t>
            </a:r>
          </a:p>
        </p:txBody>
      </p:sp>
      <p:sp>
        <p:nvSpPr>
          <p:cNvPr id="12" name="Rectangle 11"/>
          <p:cNvSpPr/>
          <p:nvPr/>
        </p:nvSpPr>
        <p:spPr>
          <a:xfrm>
            <a:off x="457200" y="3840480"/>
            <a:ext cx="365760" cy="502920"/>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86200"/>
            <a:ext cx="10515600" cy="502920"/>
          </a:xfrm>
          <a:prstGeom prst="rect">
            <a:avLst/>
          </a:prstGeom>
          <a:noFill/>
        </p:spPr>
        <p:txBody>
          <a:bodyPr wrap="square">
            <a:spAutoFit/>
          </a:bodyPr>
          <a:lstStyle/>
          <a:p>
            <a:pPr algn="l"/>
            <a:r>
              <a:rPr sz="1500" b="0" i="0">
                <a:solidFill>
                  <a:srgbClr val="12101A"/>
                </a:solidFill>
              </a:rPr>
              <a:t>Full UK Payments Perimeter Memo available on request</a:t>
            </a:r>
          </a:p>
        </p:txBody>
      </p:sp>
      <p:sp>
        <p:nvSpPr>
          <p:cNvPr id="14" name="Rectangle 13"/>
          <p:cNvSpPr/>
          <p:nvPr/>
        </p:nvSpPr>
        <p:spPr>
          <a:xfrm>
            <a:off x="457200" y="4572000"/>
            <a:ext cx="365760" cy="502920"/>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617720"/>
            <a:ext cx="10515600" cy="502920"/>
          </a:xfrm>
          <a:prstGeom prst="rect">
            <a:avLst/>
          </a:prstGeom>
          <a:noFill/>
        </p:spPr>
        <p:txBody>
          <a:bodyPr wrap="square">
            <a:spAutoFit/>
          </a:bodyPr>
          <a:lstStyle/>
          <a:p>
            <a:pPr algn="l"/>
            <a:r>
              <a:rPr sz="1500" b="0" i="0">
                <a:solidFill>
                  <a:srgbClr val="12101A"/>
                </a:solidFill>
              </a:rPr>
              <a:t>Regulatory positioning reviewed and confirmed by legal counsel</a:t>
            </a:r>
          </a:p>
        </p:txBody>
      </p:sp>
      <p:sp>
        <p:nvSpPr>
          <p:cNvPr id="16" name="Rectangle 15"/>
          <p:cNvSpPr/>
          <p:nvPr/>
        </p:nvSpPr>
        <p:spPr>
          <a:xfrm>
            <a:off x="457200" y="5486400"/>
            <a:ext cx="11247120" cy="73152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5532120"/>
            <a:ext cx="10881360" cy="640080"/>
          </a:xfrm>
          <a:prstGeom prst="rect">
            <a:avLst/>
          </a:prstGeom>
          <a:noFill/>
        </p:spPr>
        <p:txBody>
          <a:bodyPr wrap="square">
            <a:spAutoFit/>
          </a:bodyPr>
          <a:lstStyle/>
          <a:p>
            <a:pPr algn="l"/>
            <a:r>
              <a:rPr sz="1400" b="0" i="1">
                <a:solidFill>
                  <a:srgbClr val="5E17EB"/>
                </a:solidFill>
              </a:rPr>
              <a:t>In plain English: We're in the same category as an affiliate network or tracking platform. We don't move money — we track who drove the sale so you know who to pay.</a:t>
            </a:r>
          </a:p>
        </p:txBody>
      </p:sp>
      <p:sp>
        <p:nvSpPr>
          <p:cNvPr id="18" name="TextBox 17"/>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19" name="TextBox 18"/>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640080"/>
          </a:xfrm>
          <a:prstGeom prst="rect">
            <a:avLst/>
          </a:prstGeom>
          <a:noFill/>
        </p:spPr>
        <p:txBody>
          <a:bodyPr wrap="square">
            <a:spAutoFit/>
          </a:bodyPr>
          <a:lstStyle/>
          <a:p>
            <a:pPr algn="l"/>
            <a:r>
              <a:rPr sz="3600" b="1" i="0">
                <a:solidFill>
                  <a:srgbClr val="5E17EB"/>
                </a:solidFill>
              </a:rPr>
              <a:t>Ready to transact. Today.</a:t>
            </a:r>
          </a:p>
        </p:txBody>
      </p:sp>
      <p:sp>
        <p:nvSpPr>
          <p:cNvPr id="5" name="Rectangle 4"/>
          <p:cNvSpPr/>
          <p:nvPr/>
        </p:nvSpPr>
        <p:spPr>
          <a:xfrm>
            <a:off x="457200" y="1097280"/>
            <a:ext cx="11247120" cy="667512"/>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07008"/>
            <a:ext cx="3657600" cy="457200"/>
          </a:xfrm>
          <a:prstGeom prst="rect">
            <a:avLst/>
          </a:prstGeom>
          <a:noFill/>
        </p:spPr>
        <p:txBody>
          <a:bodyPr wrap="square">
            <a:spAutoFit/>
          </a:bodyPr>
          <a:lstStyle/>
          <a:p>
            <a:pPr algn="l"/>
            <a:r>
              <a:rPr sz="1400" b="1" i="0">
                <a:solidFill>
                  <a:srgbClr val="5E17EB"/>
                </a:solidFill>
              </a:rPr>
              <a:t>●  Protocol live</a:t>
            </a:r>
          </a:p>
        </p:txBody>
      </p:sp>
      <p:sp>
        <p:nvSpPr>
          <p:cNvPr id="7" name="TextBox 6"/>
          <p:cNvSpPr txBox="1"/>
          <p:nvPr/>
        </p:nvSpPr>
        <p:spPr>
          <a:xfrm>
            <a:off x="4389120" y="1207008"/>
            <a:ext cx="7132320" cy="457200"/>
          </a:xfrm>
          <a:prstGeom prst="rect">
            <a:avLst/>
          </a:prstGeom>
          <a:noFill/>
        </p:spPr>
        <p:txBody>
          <a:bodyPr wrap="square">
            <a:spAutoFit/>
          </a:bodyPr>
          <a:lstStyle/>
          <a:p>
            <a:pPr algn="l"/>
            <a:r>
              <a:rPr sz="1300" b="0" i="0">
                <a:solidFill>
                  <a:srgbClr val="12101A"/>
                </a:solidFill>
              </a:rPr>
              <a:t>AAP spec published (Apache 2.0), SDKs on npm and PyPI</a:t>
            </a:r>
          </a:p>
        </p:txBody>
      </p:sp>
      <p:sp>
        <p:nvSpPr>
          <p:cNvPr id="8" name="Rectangle 7"/>
          <p:cNvSpPr/>
          <p:nvPr/>
        </p:nvSpPr>
        <p:spPr>
          <a:xfrm>
            <a:off x="457200" y="1764792"/>
            <a:ext cx="11247120" cy="667512"/>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74520"/>
            <a:ext cx="3657600" cy="457200"/>
          </a:xfrm>
          <a:prstGeom prst="rect">
            <a:avLst/>
          </a:prstGeom>
          <a:noFill/>
        </p:spPr>
        <p:txBody>
          <a:bodyPr wrap="square">
            <a:spAutoFit/>
          </a:bodyPr>
          <a:lstStyle/>
          <a:p>
            <a:pPr algn="l"/>
            <a:r>
              <a:rPr sz="1400" b="1" i="0">
                <a:solidFill>
                  <a:srgbClr val="5E17EB"/>
                </a:solidFill>
              </a:rPr>
              <a:t>●  Claude connector live</a:t>
            </a:r>
          </a:p>
        </p:txBody>
      </p:sp>
      <p:sp>
        <p:nvSpPr>
          <p:cNvPr id="10" name="TextBox 9"/>
          <p:cNvSpPr txBox="1"/>
          <p:nvPr/>
        </p:nvSpPr>
        <p:spPr>
          <a:xfrm>
            <a:off x="4389120" y="1874520"/>
            <a:ext cx="7132320" cy="457200"/>
          </a:xfrm>
          <a:prstGeom prst="rect">
            <a:avLst/>
          </a:prstGeom>
          <a:noFill/>
        </p:spPr>
        <p:txBody>
          <a:bodyPr wrap="square">
            <a:spAutoFit/>
          </a:bodyPr>
          <a:lstStyle/>
          <a:p>
            <a:pPr algn="l"/>
            <a:r>
              <a:rPr sz="1300" b="0" i="0">
                <a:solidFill>
                  <a:srgbClr val="12101A"/>
                </a:solidFill>
              </a:rPr>
              <a:t>Agents can search offers, recommend, and checkout via MCP</a:t>
            </a:r>
          </a:p>
        </p:txBody>
      </p:sp>
      <p:sp>
        <p:nvSpPr>
          <p:cNvPr id="11" name="Rectangle 10"/>
          <p:cNvSpPr/>
          <p:nvPr/>
        </p:nvSpPr>
        <p:spPr>
          <a:xfrm>
            <a:off x="457200" y="2432304"/>
            <a:ext cx="11247120" cy="667512"/>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542032"/>
            <a:ext cx="3657600" cy="457200"/>
          </a:xfrm>
          <a:prstGeom prst="rect">
            <a:avLst/>
          </a:prstGeom>
          <a:noFill/>
        </p:spPr>
        <p:txBody>
          <a:bodyPr wrap="square">
            <a:spAutoFit/>
          </a:bodyPr>
          <a:lstStyle/>
          <a:p>
            <a:pPr algn="l"/>
            <a:r>
              <a:rPr sz="1400" b="1" i="0">
                <a:solidFill>
                  <a:srgbClr val="5E17EB"/>
                </a:solidFill>
              </a:rPr>
              <a:t>●  6 verticals seeded</a:t>
            </a:r>
          </a:p>
        </p:txBody>
      </p:sp>
      <p:sp>
        <p:nvSpPr>
          <p:cNvPr id="13" name="TextBox 12"/>
          <p:cNvSpPr txBox="1"/>
          <p:nvPr/>
        </p:nvSpPr>
        <p:spPr>
          <a:xfrm>
            <a:off x="4389120" y="2542032"/>
            <a:ext cx="7132320" cy="457200"/>
          </a:xfrm>
          <a:prstGeom prst="rect">
            <a:avLst/>
          </a:prstGeom>
          <a:noFill/>
        </p:spPr>
        <p:txBody>
          <a:bodyPr wrap="square">
            <a:spAutoFit/>
          </a:bodyPr>
          <a:lstStyle/>
          <a:p>
            <a:pPr algn="l"/>
            <a:r>
              <a:rPr sz="1300" b="0" i="0">
                <a:solidFill>
                  <a:srgbClr val="12101A"/>
                </a:solidFill>
              </a:rPr>
              <a:t>SIM, broadband, energy, flights, hotels, insurance (38 offers)</a:t>
            </a:r>
          </a:p>
        </p:txBody>
      </p:sp>
      <p:sp>
        <p:nvSpPr>
          <p:cNvPr id="14" name="Rectangle 13"/>
          <p:cNvSpPr/>
          <p:nvPr/>
        </p:nvSpPr>
        <p:spPr>
          <a:xfrm>
            <a:off x="457200" y="3099816"/>
            <a:ext cx="11247120" cy="667512"/>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209544"/>
            <a:ext cx="3657600" cy="457200"/>
          </a:xfrm>
          <a:prstGeom prst="rect">
            <a:avLst/>
          </a:prstGeom>
          <a:noFill/>
        </p:spPr>
        <p:txBody>
          <a:bodyPr wrap="square">
            <a:spAutoFit/>
          </a:bodyPr>
          <a:lstStyle/>
          <a:p>
            <a:pPr algn="l"/>
            <a:r>
              <a:rPr sz="1400" b="1" i="0">
                <a:solidFill>
                  <a:srgbClr val="5E17EB"/>
                </a:solidFill>
              </a:rPr>
              <a:t>●  Payment orchestration working</a:t>
            </a:r>
          </a:p>
        </p:txBody>
      </p:sp>
      <p:sp>
        <p:nvSpPr>
          <p:cNvPr id="16" name="TextBox 15"/>
          <p:cNvSpPr txBox="1"/>
          <p:nvPr/>
        </p:nvSpPr>
        <p:spPr>
          <a:xfrm>
            <a:off x="4389120" y="3209544"/>
            <a:ext cx="7132320" cy="457200"/>
          </a:xfrm>
          <a:prstGeom prst="rect">
            <a:avLst/>
          </a:prstGeom>
          <a:noFill/>
        </p:spPr>
        <p:txBody>
          <a:bodyPr wrap="square">
            <a:spAutoFit/>
          </a:bodyPr>
          <a:lstStyle/>
          <a:p>
            <a:pPr algn="l"/>
            <a:r>
              <a:rPr sz="1300" b="0" i="0">
                <a:solidFill>
                  <a:srgbClr val="12101A"/>
                </a:solidFill>
              </a:rPr>
              <a:t>Hyperswitch + Stripe Connect, test transactions completed</a:t>
            </a:r>
          </a:p>
        </p:txBody>
      </p:sp>
      <p:sp>
        <p:nvSpPr>
          <p:cNvPr id="17" name="Rectangle 16"/>
          <p:cNvSpPr/>
          <p:nvPr/>
        </p:nvSpPr>
        <p:spPr>
          <a:xfrm>
            <a:off x="457200" y="3767328"/>
            <a:ext cx="11247120" cy="667512"/>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877056"/>
            <a:ext cx="3657600" cy="457200"/>
          </a:xfrm>
          <a:prstGeom prst="rect">
            <a:avLst/>
          </a:prstGeom>
          <a:noFill/>
        </p:spPr>
        <p:txBody>
          <a:bodyPr wrap="square">
            <a:spAutoFit/>
          </a:bodyPr>
          <a:lstStyle/>
          <a:p>
            <a:pPr algn="l"/>
            <a:r>
              <a:rPr sz="1400" b="1" i="0">
                <a:solidFill>
                  <a:srgbClr val="5E17EB"/>
                </a:solidFill>
              </a:rPr>
              <a:t>●  Merchant portal live</a:t>
            </a:r>
          </a:p>
        </p:txBody>
      </p:sp>
      <p:sp>
        <p:nvSpPr>
          <p:cNvPr id="19" name="TextBox 18"/>
          <p:cNvSpPr txBox="1"/>
          <p:nvPr/>
        </p:nvSpPr>
        <p:spPr>
          <a:xfrm>
            <a:off x="4389120" y="3877056"/>
            <a:ext cx="7132320" cy="457200"/>
          </a:xfrm>
          <a:prstGeom prst="rect">
            <a:avLst/>
          </a:prstGeom>
          <a:noFill/>
        </p:spPr>
        <p:txBody>
          <a:bodyPr wrap="square">
            <a:spAutoFit/>
          </a:bodyPr>
          <a:lstStyle/>
          <a:p>
            <a:pPr algn="l"/>
            <a:r>
              <a:rPr sz="1300" b="0" i="0">
                <a:solidFill>
                  <a:srgbClr val="12101A"/>
                </a:solidFill>
              </a:rPr>
              <a:t>Stripe OAuth onboarding, dashboard at portal.rako.sh</a:t>
            </a:r>
          </a:p>
        </p:txBody>
      </p:sp>
      <p:sp>
        <p:nvSpPr>
          <p:cNvPr id="20" name="Rectangle 19"/>
          <p:cNvSpPr/>
          <p:nvPr/>
        </p:nvSpPr>
        <p:spPr>
          <a:xfrm>
            <a:off x="457200" y="4434840"/>
            <a:ext cx="11247120" cy="667512"/>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4544568"/>
            <a:ext cx="3657600" cy="457200"/>
          </a:xfrm>
          <a:prstGeom prst="rect">
            <a:avLst/>
          </a:prstGeom>
          <a:noFill/>
        </p:spPr>
        <p:txBody>
          <a:bodyPr wrap="square">
            <a:spAutoFit/>
          </a:bodyPr>
          <a:lstStyle/>
          <a:p>
            <a:pPr algn="l"/>
            <a:r>
              <a:rPr sz="1400" b="1" i="0">
                <a:solidFill>
                  <a:srgbClr val="5E17EB"/>
                </a:solidFill>
              </a:rPr>
              <a:t>●  150 merchants researched</a:t>
            </a:r>
          </a:p>
        </p:txBody>
      </p:sp>
      <p:sp>
        <p:nvSpPr>
          <p:cNvPr id="22" name="TextBox 21"/>
          <p:cNvSpPr txBox="1"/>
          <p:nvPr/>
        </p:nvSpPr>
        <p:spPr>
          <a:xfrm>
            <a:off x="4389120" y="4544568"/>
            <a:ext cx="7132320" cy="457200"/>
          </a:xfrm>
          <a:prstGeom prst="rect">
            <a:avLst/>
          </a:prstGeom>
          <a:noFill/>
        </p:spPr>
        <p:txBody>
          <a:bodyPr wrap="square">
            <a:spAutoFit/>
          </a:bodyPr>
          <a:lstStyle/>
          <a:p>
            <a:pPr algn="l"/>
            <a:r>
              <a:rPr sz="1300" b="0" i="0">
                <a:solidFill>
                  <a:srgbClr val="12101A"/>
                </a:solidFill>
              </a:rPr>
              <a:t>CRM loaded, outreach campaigns active</a:t>
            </a:r>
          </a:p>
        </p:txBody>
      </p:sp>
      <p:sp>
        <p:nvSpPr>
          <p:cNvPr id="23" name="Rectangle 22"/>
          <p:cNvSpPr/>
          <p:nvPr/>
        </p:nvSpPr>
        <p:spPr>
          <a:xfrm>
            <a:off x="457200" y="5102352"/>
            <a:ext cx="11247120" cy="667512"/>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212080"/>
            <a:ext cx="3657600" cy="457200"/>
          </a:xfrm>
          <a:prstGeom prst="rect">
            <a:avLst/>
          </a:prstGeom>
          <a:noFill/>
        </p:spPr>
        <p:txBody>
          <a:bodyPr wrap="square">
            <a:spAutoFit/>
          </a:bodyPr>
          <a:lstStyle/>
          <a:p>
            <a:pPr algn="l"/>
            <a:r>
              <a:rPr sz="1400" b="1" i="0">
                <a:solidFill>
                  <a:srgbClr val="5E17EB"/>
                </a:solidFill>
              </a:rPr>
              <a:t>●  UK trademark filed</a:t>
            </a:r>
          </a:p>
        </p:txBody>
      </p:sp>
      <p:sp>
        <p:nvSpPr>
          <p:cNvPr id="25" name="TextBox 24"/>
          <p:cNvSpPr txBox="1"/>
          <p:nvPr/>
        </p:nvSpPr>
        <p:spPr>
          <a:xfrm>
            <a:off x="4389120" y="5212080"/>
            <a:ext cx="7132320" cy="457200"/>
          </a:xfrm>
          <a:prstGeom prst="rect">
            <a:avLst/>
          </a:prstGeom>
          <a:noFill/>
        </p:spPr>
        <p:txBody>
          <a:bodyPr wrap="square">
            <a:spAutoFit/>
          </a:bodyPr>
          <a:lstStyle/>
          <a:p>
            <a:pPr algn="l"/>
            <a:r>
              <a:rPr sz="1300" b="0" i="0">
                <a:solidFill>
                  <a:srgbClr val="12101A"/>
                </a:solidFill>
              </a:rPr>
              <a:t>"Agent Attribution Protocol" (UK00004367937)</a:t>
            </a:r>
          </a:p>
        </p:txBody>
      </p:sp>
      <p:sp>
        <p:nvSpPr>
          <p:cNvPr id="26" name="TextBox 25"/>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27" name="TextBox 26"/>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E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74320"/>
            <a:ext cx="11247120" cy="640080"/>
          </a:xfrm>
          <a:prstGeom prst="rect">
            <a:avLst/>
          </a:prstGeom>
          <a:noFill/>
        </p:spPr>
        <p:txBody>
          <a:bodyPr wrap="square">
            <a:spAutoFit/>
          </a:bodyPr>
          <a:lstStyle/>
          <a:p>
            <a:pPr algn="l"/>
            <a:r>
              <a:rPr sz="3600" b="1" i="0">
                <a:solidFill>
                  <a:srgbClr val="5E17EB"/>
                </a:solidFill>
              </a:rPr>
              <a:t>Built by an operator, not an observer.</a:t>
            </a:r>
          </a:p>
        </p:txBody>
      </p:sp>
      <p:sp>
        <p:nvSpPr>
          <p:cNvPr id="5" name="Rectangle 4"/>
          <p:cNvSpPr/>
          <p:nvPr/>
        </p:nvSpPr>
        <p:spPr>
          <a:xfrm>
            <a:off x="457200" y="1097280"/>
            <a:ext cx="11247120" cy="3200400"/>
          </a:xfrm>
          <a:prstGeom prst="rect">
            <a:avLst/>
          </a:prstGeom>
          <a:solidFill>
            <a:srgbClr val="EFE6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34440"/>
            <a:ext cx="7315200" cy="548640"/>
          </a:xfrm>
          <a:prstGeom prst="rect">
            <a:avLst/>
          </a:prstGeom>
          <a:noFill/>
        </p:spPr>
        <p:txBody>
          <a:bodyPr wrap="square">
            <a:spAutoFit/>
          </a:bodyPr>
          <a:lstStyle/>
          <a:p>
            <a:pPr algn="l"/>
            <a:r>
              <a:rPr sz="2800" b="1" i="0">
                <a:solidFill>
                  <a:srgbClr val="5E17EB"/>
                </a:solidFill>
              </a:rPr>
              <a:t>Zishan Ahmed</a:t>
            </a:r>
          </a:p>
        </p:txBody>
      </p:sp>
      <p:sp>
        <p:nvSpPr>
          <p:cNvPr id="7" name="TextBox 6"/>
          <p:cNvSpPr txBox="1"/>
          <p:nvPr/>
        </p:nvSpPr>
        <p:spPr>
          <a:xfrm>
            <a:off x="731520" y="1783080"/>
            <a:ext cx="7315200" cy="365760"/>
          </a:xfrm>
          <a:prstGeom prst="rect">
            <a:avLst/>
          </a:prstGeom>
          <a:noFill/>
        </p:spPr>
        <p:txBody>
          <a:bodyPr wrap="square">
            <a:spAutoFit/>
          </a:bodyPr>
          <a:lstStyle/>
          <a:p>
            <a:pPr algn="l"/>
            <a:r>
              <a:rPr sz="1600" b="0" i="0">
                <a:solidFill>
                  <a:srgbClr val="3A3548"/>
                </a:solidFill>
              </a:rPr>
              <a:t>Founder &amp; CEO</a:t>
            </a:r>
          </a:p>
        </p:txBody>
      </p:sp>
      <p:sp>
        <p:nvSpPr>
          <p:cNvPr id="8" name="TextBox 7"/>
          <p:cNvSpPr txBox="1"/>
          <p:nvPr/>
        </p:nvSpPr>
        <p:spPr>
          <a:xfrm>
            <a:off x="731520" y="2240280"/>
            <a:ext cx="10515600" cy="1737360"/>
          </a:xfrm>
          <a:prstGeom prst="rect">
            <a:avLst/>
          </a:prstGeom>
          <a:noFill/>
        </p:spPr>
        <p:txBody>
          <a:bodyPr wrap="square">
            <a:spAutoFit/>
          </a:bodyPr>
          <a:lstStyle/>
          <a:p>
            <a:pPr algn="l"/>
            <a:r>
              <a:rPr sz="1400" b="0" i="0">
                <a:solidFill>
                  <a:srgbClr val="12101A"/>
                </a:solidFill>
              </a:rPr>
              <a:t>Former Audience Marketing Manager at Hyperoptic. Ran affiliate partnerships through Awin and managed acquisition campaigns across broadband, SIM, and energy verticals. Built Rako because he saw firsthand how affiliate attribution breaks when AI agents replace human browsers — and knew the commission infrastructure needed rebuilding from the protocol layer up.</a:t>
            </a:r>
          </a:p>
        </p:txBody>
      </p:sp>
      <p:sp>
        <p:nvSpPr>
          <p:cNvPr id="9" name="TextBox 8"/>
          <p:cNvSpPr txBox="1"/>
          <p:nvPr/>
        </p:nvSpPr>
        <p:spPr>
          <a:xfrm>
            <a:off x="457200" y="4526280"/>
            <a:ext cx="3657600" cy="320040"/>
          </a:xfrm>
          <a:prstGeom prst="rect">
            <a:avLst/>
          </a:prstGeom>
          <a:noFill/>
        </p:spPr>
        <p:txBody>
          <a:bodyPr wrap="square">
            <a:spAutoFit/>
          </a:bodyPr>
          <a:lstStyle/>
          <a:p>
            <a:pPr algn="l"/>
            <a:r>
              <a:rPr sz="1500" b="1" i="0">
                <a:solidFill>
                  <a:srgbClr val="12101A"/>
                </a:solidFill>
              </a:rPr>
              <a:t>What we bring:</a:t>
            </a:r>
          </a:p>
        </p:txBody>
      </p:sp>
      <p:sp>
        <p:nvSpPr>
          <p:cNvPr id="10" name="TextBox 9"/>
          <p:cNvSpPr txBox="1"/>
          <p:nvPr/>
        </p:nvSpPr>
        <p:spPr>
          <a:xfrm>
            <a:off x="457200" y="4983480"/>
            <a:ext cx="11247120" cy="365760"/>
          </a:xfrm>
          <a:prstGeom prst="rect">
            <a:avLst/>
          </a:prstGeom>
          <a:noFill/>
        </p:spPr>
        <p:txBody>
          <a:bodyPr wrap="square">
            <a:spAutoFit/>
          </a:bodyPr>
          <a:lstStyle/>
          <a:p>
            <a:pPr algn="l"/>
            <a:r>
              <a:rPr sz="1400" b="0" i="0">
                <a:solidFill>
                  <a:srgbClr val="12101A"/>
                </a:solidFill>
              </a:rPr>
              <a:t>▸  Hands-on affiliate and partnerships experience in the exact verticals Rako targets</a:t>
            </a:r>
          </a:p>
        </p:txBody>
      </p:sp>
      <p:sp>
        <p:nvSpPr>
          <p:cNvPr id="11" name="TextBox 10"/>
          <p:cNvSpPr txBox="1"/>
          <p:nvPr/>
        </p:nvSpPr>
        <p:spPr>
          <a:xfrm>
            <a:off x="457200" y="5422392"/>
            <a:ext cx="11247120" cy="365760"/>
          </a:xfrm>
          <a:prstGeom prst="rect">
            <a:avLst/>
          </a:prstGeom>
          <a:noFill/>
        </p:spPr>
        <p:txBody>
          <a:bodyPr wrap="square">
            <a:spAutoFit/>
          </a:bodyPr>
          <a:lstStyle/>
          <a:p>
            <a:pPr algn="l"/>
            <a:r>
              <a:rPr sz="1400" b="0" i="0">
                <a:solidFill>
                  <a:srgbClr val="12101A"/>
                </a:solidFill>
              </a:rPr>
              <a:t>▸  Full-stack technical capability — protocol spec, SDKs, payment integration, AI automation</a:t>
            </a:r>
          </a:p>
        </p:txBody>
      </p:sp>
      <p:sp>
        <p:nvSpPr>
          <p:cNvPr id="12" name="TextBox 11"/>
          <p:cNvSpPr txBox="1"/>
          <p:nvPr/>
        </p:nvSpPr>
        <p:spPr>
          <a:xfrm>
            <a:off x="457200" y="5861304"/>
            <a:ext cx="11247120" cy="365760"/>
          </a:xfrm>
          <a:prstGeom prst="rect">
            <a:avLst/>
          </a:prstGeom>
          <a:noFill/>
        </p:spPr>
        <p:txBody>
          <a:bodyPr wrap="square">
            <a:spAutoFit/>
          </a:bodyPr>
          <a:lstStyle/>
          <a:p>
            <a:pPr algn="l"/>
            <a:r>
              <a:rPr sz="1400" b="0" i="0">
                <a:solidFill>
                  <a:srgbClr val="12101A"/>
                </a:solidFill>
              </a:rPr>
              <a:t>▸  Direct merchant relationships in UK broadband, energy, and telecom</a:t>
            </a:r>
          </a:p>
        </p:txBody>
      </p:sp>
      <p:sp>
        <p:nvSpPr>
          <p:cNvPr id="13" name="TextBox 12"/>
          <p:cNvSpPr txBox="1"/>
          <p:nvPr/>
        </p:nvSpPr>
        <p:spPr>
          <a:xfrm>
            <a:off x="274320" y="6492240"/>
            <a:ext cx="11612880" cy="274320"/>
          </a:xfrm>
          <a:prstGeom prst="rect">
            <a:avLst/>
          </a:prstGeom>
          <a:noFill/>
        </p:spPr>
        <p:txBody>
          <a:bodyPr wrap="square">
            <a:spAutoFit/>
          </a:bodyPr>
          <a:lstStyle/>
          <a:p>
            <a:pPr algn="l"/>
            <a:r>
              <a:rPr sz="900" b="0" i="0">
                <a:solidFill>
                  <a:srgbClr val="3A3548"/>
                </a:solidFill>
              </a:rPr>
              <a:t>rako.sh</a:t>
            </a:r>
          </a:p>
        </p:txBody>
      </p:sp>
      <p:sp>
        <p:nvSpPr>
          <p:cNvPr id="14" name="TextBox 13"/>
          <p:cNvSpPr txBox="1"/>
          <p:nvPr/>
        </p:nvSpPr>
        <p:spPr>
          <a:xfrm>
            <a:off x="11704320" y="6492240"/>
            <a:ext cx="365760" cy="274320"/>
          </a:xfrm>
          <a:prstGeom prst="rect">
            <a:avLst/>
          </a:prstGeom>
          <a:noFill/>
        </p:spPr>
        <p:txBody>
          <a:bodyPr wrap="square">
            <a:spAutoFit/>
          </a:bodyPr>
          <a:lstStyle/>
          <a:p>
            <a:pPr algn="r"/>
            <a:r>
              <a:rPr sz="900" b="0" i="0">
                <a:solidFill>
                  <a:srgbClr val="3A3548"/>
                </a:solidFil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E1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11247120" cy="731520"/>
          </a:xfrm>
          <a:prstGeom prst="rect">
            <a:avLst/>
          </a:prstGeom>
          <a:noFill/>
        </p:spPr>
        <p:txBody>
          <a:bodyPr wrap="square">
            <a:spAutoFit/>
          </a:bodyPr>
          <a:lstStyle/>
          <a:p>
            <a:pPr algn="ctr"/>
            <a:r>
              <a:rPr sz="4000" b="1" i="0">
                <a:solidFill>
                  <a:srgbClr val="FEFFF5"/>
                </a:solidFill>
              </a:rPr>
              <a:t>48 hours from call to live.</a:t>
            </a:r>
          </a:p>
        </p:txBody>
      </p:sp>
      <p:sp>
        <p:nvSpPr>
          <p:cNvPr id="4" name="Rectangle 3"/>
          <p:cNvSpPr/>
          <p:nvPr/>
        </p:nvSpPr>
        <p:spPr>
          <a:xfrm>
            <a:off x="457200" y="1280160"/>
            <a:ext cx="11247120" cy="777240"/>
          </a:xfrm>
          <a:prstGeom prst="rect">
            <a:avLst/>
          </a:prstGeom>
          <a:solidFill>
            <a:srgbClr val="4B0F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89888"/>
            <a:ext cx="3200400" cy="548640"/>
          </a:xfrm>
          <a:prstGeom prst="rect">
            <a:avLst/>
          </a:prstGeom>
          <a:noFill/>
        </p:spPr>
        <p:txBody>
          <a:bodyPr wrap="square">
            <a:spAutoFit/>
          </a:bodyPr>
          <a:lstStyle/>
          <a:p>
            <a:pPr algn="l"/>
            <a:r>
              <a:rPr sz="1500" b="1" i="0">
                <a:solidFill>
                  <a:srgbClr val="FEFFF5"/>
                </a:solidFill>
              </a:rPr>
              <a:t>1. Onboarding call</a:t>
            </a:r>
          </a:p>
        </p:txBody>
      </p:sp>
      <p:sp>
        <p:nvSpPr>
          <p:cNvPr id="6" name="TextBox 5"/>
          <p:cNvSpPr txBox="1"/>
          <p:nvPr/>
        </p:nvSpPr>
        <p:spPr>
          <a:xfrm>
            <a:off x="3931920" y="1389888"/>
            <a:ext cx="1828800" cy="548640"/>
          </a:xfrm>
          <a:prstGeom prst="rect">
            <a:avLst/>
          </a:prstGeom>
          <a:noFill/>
        </p:spPr>
        <p:txBody>
          <a:bodyPr wrap="square">
            <a:spAutoFit/>
          </a:bodyPr>
          <a:lstStyle/>
          <a:p>
            <a:pPr algn="l"/>
            <a:r>
              <a:rPr sz="1400" b="1" i="0">
                <a:solidFill>
                  <a:srgbClr val="EFE6FE"/>
                </a:solidFill>
              </a:rPr>
              <a:t>15 minutes</a:t>
            </a:r>
          </a:p>
        </p:txBody>
      </p:sp>
      <p:sp>
        <p:nvSpPr>
          <p:cNvPr id="7" name="TextBox 6"/>
          <p:cNvSpPr txBox="1"/>
          <p:nvPr/>
        </p:nvSpPr>
        <p:spPr>
          <a:xfrm>
            <a:off x="5852160" y="1389888"/>
            <a:ext cx="5669280" cy="548640"/>
          </a:xfrm>
          <a:prstGeom prst="rect">
            <a:avLst/>
          </a:prstGeom>
          <a:noFill/>
        </p:spPr>
        <p:txBody>
          <a:bodyPr wrap="square">
            <a:spAutoFit/>
          </a:bodyPr>
          <a:lstStyle/>
          <a:p>
            <a:pPr algn="l"/>
            <a:r>
              <a:rPr sz="1400" b="0" i="0">
                <a:solidFill>
                  <a:srgbClr val="FEFFF5"/>
                </a:solidFill>
              </a:rPr>
              <a:t>We learn your products, commission rates, and checkout flow</a:t>
            </a:r>
          </a:p>
        </p:txBody>
      </p:sp>
      <p:sp>
        <p:nvSpPr>
          <p:cNvPr id="8" name="Rectangle 7"/>
          <p:cNvSpPr/>
          <p:nvPr/>
        </p:nvSpPr>
        <p:spPr>
          <a:xfrm>
            <a:off x="457200" y="2103120"/>
            <a:ext cx="11247120" cy="777240"/>
          </a:xfrm>
          <a:prstGeom prst="rect">
            <a:avLst/>
          </a:prstGeom>
          <a:solidFill>
            <a:srgbClr val="3A0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12848"/>
            <a:ext cx="3200400" cy="548640"/>
          </a:xfrm>
          <a:prstGeom prst="rect">
            <a:avLst/>
          </a:prstGeom>
          <a:noFill/>
        </p:spPr>
        <p:txBody>
          <a:bodyPr wrap="square">
            <a:spAutoFit/>
          </a:bodyPr>
          <a:lstStyle/>
          <a:p>
            <a:pPr algn="l"/>
            <a:r>
              <a:rPr sz="1500" b="1" i="0">
                <a:solidFill>
                  <a:srgbClr val="FEFFF5"/>
                </a:solidFill>
              </a:rPr>
              <a:t>2. Connect Stripe</a:t>
            </a:r>
          </a:p>
        </p:txBody>
      </p:sp>
      <p:sp>
        <p:nvSpPr>
          <p:cNvPr id="10" name="TextBox 9"/>
          <p:cNvSpPr txBox="1"/>
          <p:nvPr/>
        </p:nvSpPr>
        <p:spPr>
          <a:xfrm>
            <a:off x="3931920" y="2212848"/>
            <a:ext cx="1828800" cy="548640"/>
          </a:xfrm>
          <a:prstGeom prst="rect">
            <a:avLst/>
          </a:prstGeom>
          <a:noFill/>
        </p:spPr>
        <p:txBody>
          <a:bodyPr wrap="square">
            <a:spAutoFit/>
          </a:bodyPr>
          <a:lstStyle/>
          <a:p>
            <a:pPr algn="l"/>
            <a:r>
              <a:rPr sz="1400" b="1" i="0">
                <a:solidFill>
                  <a:srgbClr val="EFE6FE"/>
                </a:solidFill>
              </a:rPr>
              <a:t>2 minutes</a:t>
            </a:r>
          </a:p>
        </p:txBody>
      </p:sp>
      <p:sp>
        <p:nvSpPr>
          <p:cNvPr id="11" name="TextBox 10"/>
          <p:cNvSpPr txBox="1"/>
          <p:nvPr/>
        </p:nvSpPr>
        <p:spPr>
          <a:xfrm>
            <a:off x="5852160" y="2212848"/>
            <a:ext cx="5669280" cy="548640"/>
          </a:xfrm>
          <a:prstGeom prst="rect">
            <a:avLst/>
          </a:prstGeom>
          <a:noFill/>
        </p:spPr>
        <p:txBody>
          <a:bodyPr wrap="square">
            <a:spAutoFit/>
          </a:bodyPr>
          <a:lstStyle/>
          <a:p>
            <a:pPr algn="l"/>
            <a:r>
              <a:rPr sz="1400" b="0" i="0">
                <a:solidFill>
                  <a:srgbClr val="FEFFF5"/>
                </a:solidFill>
              </a:rPr>
              <a:t>OAuth — one click, scoped permissions, you stay in control</a:t>
            </a:r>
          </a:p>
        </p:txBody>
      </p:sp>
      <p:sp>
        <p:nvSpPr>
          <p:cNvPr id="12" name="Rectangle 11"/>
          <p:cNvSpPr/>
          <p:nvPr/>
        </p:nvSpPr>
        <p:spPr>
          <a:xfrm>
            <a:off x="457200" y="2926080"/>
            <a:ext cx="11247120" cy="777240"/>
          </a:xfrm>
          <a:prstGeom prst="rect">
            <a:avLst/>
          </a:prstGeom>
          <a:solidFill>
            <a:srgbClr val="4B0F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035808"/>
            <a:ext cx="3200400" cy="548640"/>
          </a:xfrm>
          <a:prstGeom prst="rect">
            <a:avLst/>
          </a:prstGeom>
          <a:noFill/>
        </p:spPr>
        <p:txBody>
          <a:bodyPr wrap="square">
            <a:spAutoFit/>
          </a:bodyPr>
          <a:lstStyle/>
          <a:p>
            <a:pPr algn="l"/>
            <a:r>
              <a:rPr sz="1500" b="1" i="0">
                <a:solidFill>
                  <a:srgbClr val="FEFFF5"/>
                </a:solidFill>
              </a:rPr>
              <a:t>3. Offers go live</a:t>
            </a:r>
          </a:p>
        </p:txBody>
      </p:sp>
      <p:sp>
        <p:nvSpPr>
          <p:cNvPr id="14" name="TextBox 13"/>
          <p:cNvSpPr txBox="1"/>
          <p:nvPr/>
        </p:nvSpPr>
        <p:spPr>
          <a:xfrm>
            <a:off x="3931920" y="3035808"/>
            <a:ext cx="1828800" cy="548640"/>
          </a:xfrm>
          <a:prstGeom prst="rect">
            <a:avLst/>
          </a:prstGeom>
          <a:noFill/>
        </p:spPr>
        <p:txBody>
          <a:bodyPr wrap="square">
            <a:spAutoFit/>
          </a:bodyPr>
          <a:lstStyle/>
          <a:p>
            <a:pPr algn="l"/>
            <a:r>
              <a:rPr sz="1400" b="1" i="0">
                <a:solidFill>
                  <a:srgbClr val="EFE6FE"/>
                </a:solidFill>
              </a:rPr>
              <a:t>24–48 hours</a:t>
            </a:r>
          </a:p>
        </p:txBody>
      </p:sp>
      <p:sp>
        <p:nvSpPr>
          <p:cNvPr id="15" name="TextBox 14"/>
          <p:cNvSpPr txBox="1"/>
          <p:nvPr/>
        </p:nvSpPr>
        <p:spPr>
          <a:xfrm>
            <a:off x="5852160" y="3035808"/>
            <a:ext cx="5669280" cy="548640"/>
          </a:xfrm>
          <a:prstGeom prst="rect">
            <a:avLst/>
          </a:prstGeom>
          <a:noFill/>
        </p:spPr>
        <p:txBody>
          <a:bodyPr wrap="square">
            <a:spAutoFit/>
          </a:bodyPr>
          <a:lstStyle/>
          <a:p>
            <a:pPr algn="l"/>
            <a:r>
              <a:rPr sz="1400" b="0" i="0">
                <a:solidFill>
                  <a:srgbClr val="FEFFF5"/>
                </a:solidFill>
              </a:rPr>
              <a:t>Your products are discoverable by every agent on the network</a:t>
            </a:r>
          </a:p>
        </p:txBody>
      </p:sp>
      <p:sp>
        <p:nvSpPr>
          <p:cNvPr id="16" name="Rectangle 15"/>
          <p:cNvSpPr/>
          <p:nvPr/>
        </p:nvSpPr>
        <p:spPr>
          <a:xfrm>
            <a:off x="457200" y="3749040"/>
            <a:ext cx="11247120" cy="777240"/>
          </a:xfrm>
          <a:prstGeom prst="rect">
            <a:avLst/>
          </a:prstGeom>
          <a:solidFill>
            <a:srgbClr val="3A0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858768"/>
            <a:ext cx="3200400" cy="548640"/>
          </a:xfrm>
          <a:prstGeom prst="rect">
            <a:avLst/>
          </a:prstGeom>
          <a:noFill/>
        </p:spPr>
        <p:txBody>
          <a:bodyPr wrap="square">
            <a:spAutoFit/>
          </a:bodyPr>
          <a:lstStyle/>
          <a:p>
            <a:pPr algn="l"/>
            <a:r>
              <a:rPr sz="1500" b="1" i="0">
                <a:solidFill>
                  <a:srgbClr val="FEFFF5"/>
                </a:solidFill>
              </a:rPr>
              <a:t>4. Agents recommend</a:t>
            </a:r>
          </a:p>
        </p:txBody>
      </p:sp>
      <p:sp>
        <p:nvSpPr>
          <p:cNvPr id="18" name="TextBox 17"/>
          <p:cNvSpPr txBox="1"/>
          <p:nvPr/>
        </p:nvSpPr>
        <p:spPr>
          <a:xfrm>
            <a:off x="3931920" y="3858768"/>
            <a:ext cx="1828800" cy="548640"/>
          </a:xfrm>
          <a:prstGeom prst="rect">
            <a:avLst/>
          </a:prstGeom>
          <a:noFill/>
        </p:spPr>
        <p:txBody>
          <a:bodyPr wrap="square">
            <a:spAutoFit/>
          </a:bodyPr>
          <a:lstStyle/>
          <a:p>
            <a:pPr algn="l"/>
            <a:r>
              <a:rPr sz="1400" b="1" i="0">
                <a:solidFill>
                  <a:srgbClr val="EFE6FE"/>
                </a:solidFill>
              </a:rPr>
              <a:t>Ongoing</a:t>
            </a:r>
          </a:p>
        </p:txBody>
      </p:sp>
      <p:sp>
        <p:nvSpPr>
          <p:cNvPr id="19" name="TextBox 18"/>
          <p:cNvSpPr txBox="1"/>
          <p:nvPr/>
        </p:nvSpPr>
        <p:spPr>
          <a:xfrm>
            <a:off x="5852160" y="3858768"/>
            <a:ext cx="5669280" cy="548640"/>
          </a:xfrm>
          <a:prstGeom prst="rect">
            <a:avLst/>
          </a:prstGeom>
          <a:noFill/>
        </p:spPr>
        <p:txBody>
          <a:bodyPr wrap="square">
            <a:spAutoFit/>
          </a:bodyPr>
          <a:lstStyle/>
          <a:p>
            <a:pPr algn="l"/>
            <a:r>
              <a:rPr sz="1400" b="0" i="0">
                <a:solidFill>
                  <a:srgbClr val="FEFFF5"/>
                </a:solidFill>
              </a:rPr>
              <a:t>Real users, real purchases, real commission invoices</a:t>
            </a:r>
          </a:p>
        </p:txBody>
      </p:sp>
      <p:sp>
        <p:nvSpPr>
          <p:cNvPr id="20" name="Rectangle 19"/>
          <p:cNvSpPr/>
          <p:nvPr/>
        </p:nvSpPr>
        <p:spPr>
          <a:xfrm>
            <a:off x="1828800" y="5120640"/>
            <a:ext cx="8503920" cy="1280160"/>
          </a:xfrm>
          <a:prstGeom prst="rect">
            <a:avLst/>
          </a:prstGeom>
          <a:solidFill>
            <a:srgbClr val="3A0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011680" y="5257800"/>
            <a:ext cx="8138160" cy="548640"/>
          </a:xfrm>
          <a:prstGeom prst="rect">
            <a:avLst/>
          </a:prstGeom>
          <a:noFill/>
        </p:spPr>
        <p:txBody>
          <a:bodyPr wrap="square">
            <a:spAutoFit/>
          </a:bodyPr>
          <a:lstStyle/>
          <a:p>
            <a:pPr algn="ctr"/>
            <a:r>
              <a:rPr sz="1800" b="1" i="0">
                <a:solidFill>
                  <a:srgbClr val="FEFFF5"/>
                </a:solidFill>
              </a:rPr>
              <a:t>📅  cal.com/rakohq     📧  hi@rako.sh     🌐  rako.sh</a:t>
            </a:r>
          </a:p>
        </p:txBody>
      </p:sp>
      <p:sp>
        <p:nvSpPr>
          <p:cNvPr id="22" name="TextBox 21"/>
          <p:cNvSpPr txBox="1"/>
          <p:nvPr/>
        </p:nvSpPr>
        <p:spPr>
          <a:xfrm>
            <a:off x="2743200" y="6492240"/>
            <a:ext cx="6675120" cy="274320"/>
          </a:xfrm>
          <a:prstGeom prst="rect">
            <a:avLst/>
          </a:prstGeom>
          <a:noFill/>
        </p:spPr>
        <p:txBody>
          <a:bodyPr wrap="square">
            <a:spAutoFit/>
          </a:bodyPr>
          <a:lstStyle/>
          <a:p>
            <a:pPr algn="ctr"/>
            <a:r>
              <a:rPr sz="1000" b="0" i="0">
                <a:solidFill>
                  <a:srgbClr val="EFE6FE"/>
                </a:solidFill>
              </a:rPr>
              <a:t>Rako Ltd · Company 17132612 · England &amp; Wales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